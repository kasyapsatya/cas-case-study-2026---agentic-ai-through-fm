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napuli, Kasyap" userId="c917d9e6-6ec6-4043-a16c-17f89f10e9cb" providerId="ADAL" clId="{CB81209D-9665-43BF-936C-D3DDCB54E76D}"/>
    <pc:docChg chg="custSel modSld">
      <pc:chgData name="Kunapuli, Kasyap" userId="c917d9e6-6ec6-4043-a16c-17f89f10e9cb" providerId="ADAL" clId="{CB81209D-9665-43BF-936C-D3DDCB54E76D}" dt="2026-09-13T11:44:32.268" v="3" actId="478"/>
      <pc:docMkLst>
        <pc:docMk/>
      </pc:docMkLst>
      <pc:sldChg chg="delSp mod">
        <pc:chgData name="Kunapuli, Kasyap" userId="c917d9e6-6ec6-4043-a16c-17f89f10e9cb" providerId="ADAL" clId="{CB81209D-9665-43BF-936C-D3DDCB54E76D}" dt="2026-09-13T11:44:32.268" v="3" actId="478"/>
        <pc:sldMkLst>
          <pc:docMk/>
          <pc:sldMk cId="0" sldId="256"/>
        </pc:sldMkLst>
        <pc:spChg chg="del">
          <ac:chgData name="Kunapuli, Kasyap" userId="c917d9e6-6ec6-4043-a16c-17f89f10e9cb" providerId="ADAL" clId="{CB81209D-9665-43BF-936C-D3DDCB54E76D}" dt="2026-09-13T11:44:32.268" v="3" actId="478"/>
          <ac:spMkLst>
            <pc:docMk/>
            <pc:sldMk cId="0" sldId="256"/>
            <ac:spMk id="6" creationId="{00000000-0000-0000-0000-000000000000}"/>
          </ac:spMkLst>
        </pc:spChg>
      </pc:sldChg>
      <pc:sldChg chg="modSp mod">
        <pc:chgData name="Kunapuli, Kasyap" userId="c917d9e6-6ec6-4043-a16c-17f89f10e9cb" providerId="ADAL" clId="{CB81209D-9665-43BF-936C-D3DDCB54E76D}" dt="2026-09-13T11:43:54.262" v="2" actId="207"/>
        <pc:sldMkLst>
          <pc:docMk/>
          <pc:sldMk cId="0" sldId="260"/>
        </pc:sldMkLst>
        <pc:spChg chg="mod">
          <ac:chgData name="Kunapuli, Kasyap" userId="c917d9e6-6ec6-4043-a16c-17f89f10e9cb" providerId="ADAL" clId="{CB81209D-9665-43BF-936C-D3DDCB54E76D}" dt="2026-09-13T11:43:54.262" v="2" actId="207"/>
          <ac:spMkLst>
            <pc:docMk/>
            <pc:sldMk cId="0" sldId="260"/>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170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0607"/>
        </a:solidFill>
        <a:effectLst/>
      </p:bgPr>
    </p:bg>
    <p:spTree>
      <p:nvGrpSpPr>
        <p:cNvPr id="1" name=""/>
        <p:cNvGrpSpPr/>
        <p:nvPr/>
      </p:nvGrpSpPr>
      <p:grpSpPr>
        <a:xfrm>
          <a:off x="0" y="0"/>
          <a:ext cx="0" cy="0"/>
          <a:chOff x="0" y="0"/>
          <a:chExt cx="0" cy="0"/>
        </a:xfrm>
      </p:grpSpPr>
      <p:sp>
        <p:nvSpPr>
          <p:cNvPr id="2" name="Text 0"/>
          <p:cNvSpPr txBox="1"/>
          <p:nvPr/>
        </p:nvSpPr>
        <p:spPr>
          <a:xfrm>
            <a:off x="731520" y="1188720"/>
            <a:ext cx="10698480" cy="365760"/>
          </a:xfrm>
          <a:prstGeom prst="rect">
            <a:avLst/>
          </a:prstGeom>
          <a:noFill/>
          <a:ln/>
        </p:spPr>
        <p:txBody>
          <a:bodyPr wrap="square" lIns="0" tIns="0" rIns="0" bIns="0" rtlCol="0" anchor="ctr"/>
          <a:lstStyle/>
          <a:p>
            <a:pPr marL="0" indent="0">
              <a:buNone/>
            </a:pPr>
            <a:r>
              <a:rPr lang="en-US" sz="1300" b="1" kern="0" spc="200" dirty="0">
                <a:solidFill>
                  <a:srgbClr val="8FDEE3"/>
                </a:solidFill>
                <a:latin typeface="Calibri" pitchFamily="34" charset="0"/>
                <a:ea typeface="Calibri" pitchFamily="34" charset="-122"/>
                <a:cs typeface="Calibri" pitchFamily="34" charset="-120"/>
              </a:rPr>
              <a:t>CAS GLOBAL TEACHING MATERIALS INNOVATION CHALLENGE</a:t>
            </a:r>
            <a:endParaRPr lang="en-US" sz="1300" dirty="0"/>
          </a:p>
        </p:txBody>
      </p:sp>
      <p:sp>
        <p:nvSpPr>
          <p:cNvPr id="3" name="Text 1"/>
          <p:cNvSpPr txBox="1"/>
          <p:nvPr/>
        </p:nvSpPr>
        <p:spPr>
          <a:xfrm>
            <a:off x="731520" y="1828800"/>
            <a:ext cx="10698480" cy="1828800"/>
          </a:xfrm>
          <a:prstGeom prst="rect">
            <a:avLst/>
          </a:prstGeom>
          <a:noFill/>
          <a:ln/>
        </p:spPr>
        <p:txBody>
          <a:bodyPr wrap="square" lIns="0" tIns="0" rIns="0" bIns="0" rtlCol="0" anchor="ctr"/>
          <a:lstStyle/>
          <a:p>
            <a:pPr marL="0" indent="0">
              <a:lnSpc>
                <a:spcPts val="5000"/>
              </a:lnSpc>
              <a:buNone/>
            </a:pPr>
            <a:r>
              <a:rPr lang="en-US" sz="4400" b="1" dirty="0">
                <a:solidFill>
                  <a:srgbClr val="F5EDEA"/>
                </a:solidFill>
                <a:latin typeface="Cambria" pitchFamily="34" charset="0"/>
                <a:ea typeface="Cambria" pitchFamily="34" charset="-122"/>
                <a:cs typeface="Cambria" pitchFamily="34" charset="-120"/>
              </a:rPr>
              <a:t>From Exam Question to</a:t>
            </a:r>
            <a:endParaRPr lang="en-US" sz="4400" dirty="0"/>
          </a:p>
          <a:p>
            <a:pPr marL="0" indent="0">
              <a:lnSpc>
                <a:spcPts val="5000"/>
              </a:lnSpc>
              <a:buNone/>
            </a:pPr>
            <a:r>
              <a:rPr lang="en-US" sz="4400" b="1" dirty="0">
                <a:solidFill>
                  <a:srgbClr val="F5EDEA"/>
                </a:solidFill>
                <a:latin typeface="Cambria" pitchFamily="34" charset="0"/>
                <a:ea typeface="Cambria" pitchFamily="34" charset="-122"/>
                <a:cs typeface="Cambria" pitchFamily="34" charset="-120"/>
              </a:rPr>
              <a:t>Autonomous Agent</a:t>
            </a:r>
            <a:endParaRPr lang="en-US" sz="4400" dirty="0"/>
          </a:p>
        </p:txBody>
      </p:sp>
      <p:sp>
        <p:nvSpPr>
          <p:cNvPr id="4" name="Text 2"/>
          <p:cNvSpPr txBox="1"/>
          <p:nvPr/>
        </p:nvSpPr>
        <p:spPr>
          <a:xfrm>
            <a:off x="731520" y="3703320"/>
            <a:ext cx="10698480" cy="548640"/>
          </a:xfrm>
          <a:prstGeom prst="rect">
            <a:avLst/>
          </a:prstGeom>
          <a:noFill/>
          <a:ln/>
        </p:spPr>
        <p:txBody>
          <a:bodyPr wrap="square" lIns="0" tIns="0" rIns="0" bIns="0" rtlCol="0" anchor="ctr"/>
          <a:lstStyle/>
          <a:p>
            <a:pPr marL="0" indent="0">
              <a:buNone/>
            </a:pPr>
            <a:r>
              <a:rPr lang="en-US" sz="2000" i="1" dirty="0">
                <a:solidFill>
                  <a:srgbClr val="8FDEE3"/>
                </a:solidFill>
                <a:latin typeface="Calibri" pitchFamily="34" charset="0"/>
                <a:ea typeface="Calibri" pitchFamily="34" charset="-122"/>
                <a:cs typeface="Calibri" pitchFamily="34" charset="-120"/>
              </a:rPr>
              <a:t>Teaching Agentic AI Through Financial Mathematics</a:t>
            </a:r>
            <a:endParaRPr lang="en-US" sz="2000" dirty="0"/>
          </a:p>
        </p:txBody>
      </p:sp>
      <p:sp>
        <p:nvSpPr>
          <p:cNvPr id="5" name="Text 3"/>
          <p:cNvSpPr txBox="1"/>
          <p:nvPr/>
        </p:nvSpPr>
        <p:spPr>
          <a:xfrm>
            <a:off x="731520" y="4983480"/>
            <a:ext cx="10698480" cy="365760"/>
          </a:xfrm>
          <a:prstGeom prst="rect">
            <a:avLst/>
          </a:prstGeom>
          <a:noFill/>
          <a:ln/>
        </p:spPr>
        <p:txBody>
          <a:bodyPr wrap="square" lIns="0" tIns="0" rIns="0" bIns="0" rtlCol="0" anchor="ctr"/>
          <a:lstStyle/>
          <a:p>
            <a:pPr marL="0" indent="0">
              <a:buNone/>
            </a:pPr>
            <a:r>
              <a:rPr lang="en-US" sz="1400" dirty="0">
                <a:solidFill>
                  <a:srgbClr val="8FDEE3"/>
                </a:solidFill>
                <a:latin typeface="Calibri" pitchFamily="34" charset="0"/>
                <a:ea typeface="Calibri" pitchFamily="34" charset="-122"/>
                <a:cs typeface="Calibri" pitchFamily="34" charset="-120"/>
              </a:rPr>
              <a:t>In-class opening deck  ·  15–20 minutes  ·  Rate → Reason → Act → Observe</a:t>
            </a:r>
            <a:endParaRPr lang="en-US" sz="1400" dirty="0"/>
          </a:p>
        </p:txBody>
      </p:sp>
      <p:sp>
        <p:nvSpPr>
          <p:cNvPr id="7" name="Text 5"/>
          <p:cNvSpPr txBox="1"/>
          <p:nvPr/>
        </p:nvSpPr>
        <p:spPr>
          <a:xfrm>
            <a:off x="731520" y="6281928"/>
            <a:ext cx="10698480" cy="320040"/>
          </a:xfrm>
          <a:prstGeom prst="rect">
            <a:avLst/>
          </a:prstGeom>
          <a:noFill/>
          <a:ln/>
        </p:spPr>
        <p:txBody>
          <a:bodyPr wrap="square" lIns="0" tIns="0" rIns="0" bIns="0" rtlCol="0" anchor="ctr"/>
          <a:lstStyle/>
          <a:p>
            <a:pPr marL="0" indent="0">
              <a:buNone/>
            </a:pPr>
            <a:r>
              <a:rPr lang="en-US" sz="1200" dirty="0">
                <a:solidFill>
                  <a:srgbClr val="C9A19E"/>
                </a:solidFill>
                <a:latin typeface="Calibri" pitchFamily="34" charset="0"/>
                <a:ea typeface="Calibri" pitchFamily="34" charset="-122"/>
                <a:cs typeface="Calibri" pitchFamily="34" charset="-120"/>
              </a:rPr>
              <a:t>Sri Sathya Sai Institute of Actuaries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300" b="1" kern="0" spc="150" dirty="0">
                <a:solidFill>
                  <a:srgbClr val="4FAEB5"/>
                </a:solidFill>
                <a:latin typeface="Calibri" pitchFamily="34" charset="0"/>
                <a:ea typeface="Calibri" pitchFamily="34" charset="-122"/>
                <a:cs typeface="Calibri" pitchFamily="34" charset="-120"/>
              </a:rPr>
              <a:t>THE EDUCATIONAL PROBLEM</a:t>
            </a:r>
            <a:endParaRPr lang="en-US" sz="1300" dirty="0"/>
          </a:p>
        </p:txBody>
      </p:sp>
      <p:sp>
        <p:nvSpPr>
          <p:cNvPr id="3" name="Text 1"/>
          <p:cNvSpPr txBox="1"/>
          <p:nvPr/>
        </p:nvSpPr>
        <p:spPr>
          <a:xfrm>
            <a:off x="548640" y="777240"/>
            <a:ext cx="10972800" cy="731520"/>
          </a:xfrm>
          <a:prstGeom prst="rect">
            <a:avLst/>
          </a:prstGeom>
          <a:noFill/>
          <a:ln/>
        </p:spPr>
        <p:txBody>
          <a:bodyPr wrap="square" lIns="0" tIns="0" rIns="0" bIns="0" rtlCol="0" anchor="ctr"/>
          <a:lstStyle/>
          <a:p>
            <a:pPr marL="0" indent="0">
              <a:buNone/>
            </a:pPr>
            <a:r>
              <a:rPr lang="en-US" sz="3200" b="1" dirty="0">
                <a:solidFill>
                  <a:srgbClr val="3B0F10"/>
                </a:solidFill>
                <a:latin typeface="Cambria" pitchFamily="34" charset="0"/>
                <a:ea typeface="Cambria" pitchFamily="34" charset="-122"/>
                <a:cs typeface="Cambria" pitchFamily="34" charset="-120"/>
              </a:rPr>
              <a:t>Every student already runs the loop</a:t>
            </a:r>
            <a:endParaRPr lang="en-US" sz="3200" dirty="0"/>
          </a:p>
        </p:txBody>
      </p:sp>
      <p:sp>
        <p:nvSpPr>
          <p:cNvPr id="4" name="Shape 2"/>
          <p:cNvSpPr/>
          <p:nvPr/>
        </p:nvSpPr>
        <p:spPr>
          <a:xfrm>
            <a:off x="548640" y="1783080"/>
            <a:ext cx="6675120" cy="4160520"/>
          </a:xfrm>
          <a:prstGeom prst="roundRect">
            <a:avLst>
              <a:gd name="adj" fmla="val 2637"/>
            </a:avLst>
          </a:prstGeom>
          <a:solidFill>
            <a:srgbClr val="F5E4E0"/>
          </a:solidFill>
          <a:ln/>
          <a:effectLst>
            <a:outerShdw blurRad="101600" dist="38100" dir="5400000" algn="bl" rotWithShape="0">
              <a:srgbClr val="2D0607">
                <a:alpha val="18000"/>
              </a:srgbClr>
            </a:outerShdw>
          </a:effectLst>
        </p:spPr>
        <p:txBody>
          <a:bodyPr/>
          <a:lstStyle/>
          <a:p>
            <a:endParaRPr lang="en-US"/>
          </a:p>
        </p:txBody>
      </p:sp>
      <p:sp>
        <p:nvSpPr>
          <p:cNvPr id="5" name="Text 3"/>
          <p:cNvSpPr txBox="1"/>
          <p:nvPr/>
        </p:nvSpPr>
        <p:spPr>
          <a:xfrm>
            <a:off x="914400" y="2103120"/>
            <a:ext cx="5943600" cy="3566160"/>
          </a:xfrm>
          <a:prstGeom prst="rect">
            <a:avLst/>
          </a:prstGeom>
          <a:noFill/>
          <a:ln/>
        </p:spPr>
        <p:txBody>
          <a:bodyPr wrap="square" lIns="0" tIns="0" rIns="0" bIns="0" rtlCol="0" anchor="t"/>
          <a:lstStyle/>
          <a:p>
            <a:pPr marL="0" indent="0">
              <a:spcAft>
                <a:spcPts val="1400"/>
              </a:spcAft>
              <a:buNone/>
            </a:pPr>
            <a:r>
              <a:rPr lang="en-US" sz="1800" i="1" dirty="0">
                <a:solidFill>
                  <a:srgbClr val="3B0F10"/>
                </a:solidFill>
              </a:rPr>
              <a:t>“They read the question, identify which topic is being tested, break the problem into steps, determine which formula applies, apply it, and check that the final answer actually answers what was asked.”</a:t>
            </a:r>
            <a:endParaRPr lang="en-US" sz="1800" dirty="0"/>
          </a:p>
          <a:p>
            <a:pPr marL="0" indent="0">
              <a:buNone/>
            </a:pPr>
            <a:r>
              <a:rPr lang="en-US" sz="1600" dirty="0">
                <a:solidFill>
                  <a:srgbClr val="B98D8B"/>
                </a:solidFill>
              </a:rPr>
              <a:t>That sequence — interpret, decide, act, check, repeat — is exactly the loop an agentic AI system executes.</a:t>
            </a:r>
            <a:endParaRPr lang="en-US" sz="1800" dirty="0"/>
          </a:p>
        </p:txBody>
      </p:sp>
      <p:sp>
        <p:nvSpPr>
          <p:cNvPr id="6" name="Text 4"/>
          <p:cNvSpPr txBox="1"/>
          <p:nvPr/>
        </p:nvSpPr>
        <p:spPr>
          <a:xfrm>
            <a:off x="7498080" y="1783080"/>
            <a:ext cx="4114800" cy="320040"/>
          </a:xfrm>
          <a:prstGeom prst="rect">
            <a:avLst/>
          </a:prstGeom>
          <a:noFill/>
          <a:ln/>
        </p:spPr>
        <p:txBody>
          <a:bodyPr wrap="square" lIns="0" tIns="0" rIns="0" bIns="0" rtlCol="0" anchor="ctr"/>
          <a:lstStyle/>
          <a:p>
            <a:pPr marL="0" indent="0">
              <a:buNone/>
            </a:pPr>
            <a:r>
              <a:rPr lang="en-US" sz="1200" b="1" kern="0" spc="120" dirty="0">
                <a:solidFill>
                  <a:srgbClr val="4FAEB5"/>
                </a:solidFill>
                <a:latin typeface="Calibri" pitchFamily="34" charset="0"/>
                <a:ea typeface="Calibri" pitchFamily="34" charset="-122"/>
                <a:cs typeface="Calibri" pitchFamily="34" charset="-120"/>
              </a:rPr>
              <a:t>THE CENTRAL DISCIPLINE</a:t>
            </a:r>
            <a:endParaRPr lang="en-US" sz="1200" dirty="0"/>
          </a:p>
        </p:txBody>
      </p:sp>
      <p:sp>
        <p:nvSpPr>
          <p:cNvPr id="7" name="Shape 5"/>
          <p:cNvSpPr/>
          <p:nvPr/>
        </p:nvSpPr>
        <p:spPr>
          <a:xfrm>
            <a:off x="7498080" y="2286000"/>
            <a:ext cx="128016" cy="128016"/>
          </a:xfrm>
          <a:prstGeom prst="ellipse">
            <a:avLst/>
          </a:prstGeom>
          <a:solidFill>
            <a:srgbClr val="4FAEB5"/>
          </a:solidFill>
          <a:ln/>
        </p:spPr>
        <p:txBody>
          <a:bodyPr/>
          <a:lstStyle/>
          <a:p>
            <a:endParaRPr lang="en-US"/>
          </a:p>
        </p:txBody>
      </p:sp>
      <p:sp>
        <p:nvSpPr>
          <p:cNvPr id="8" name="Text 6"/>
          <p:cNvSpPr txBox="1"/>
          <p:nvPr/>
        </p:nvSpPr>
        <p:spPr>
          <a:xfrm>
            <a:off x="7772400" y="2167128"/>
            <a:ext cx="3840480" cy="320040"/>
          </a:xfrm>
          <a:prstGeom prst="rect">
            <a:avLst/>
          </a:prstGeom>
          <a:noFill/>
          <a:ln/>
        </p:spPr>
        <p:txBody>
          <a:bodyPr wrap="square" lIns="0" tIns="0" rIns="0" bIns="0" rtlCol="0" anchor="ctr"/>
          <a:lstStyle/>
          <a:p>
            <a:pPr marL="0" indent="0">
              <a:buNone/>
            </a:pPr>
            <a:r>
              <a:rPr lang="en-US" sz="1500" b="1" dirty="0">
                <a:solidFill>
                  <a:srgbClr val="3B0F10"/>
                </a:solidFill>
                <a:latin typeface="Calibri" pitchFamily="34" charset="0"/>
                <a:ea typeface="Calibri" pitchFamily="34" charset="-122"/>
                <a:cs typeface="Calibri" pitchFamily="34" charset="-120"/>
              </a:rPr>
              <a:t>Model decides</a:t>
            </a:r>
            <a:endParaRPr lang="en-US" sz="1500" dirty="0"/>
          </a:p>
        </p:txBody>
      </p:sp>
      <p:sp>
        <p:nvSpPr>
          <p:cNvPr id="9" name="Text 7"/>
          <p:cNvSpPr txBox="1"/>
          <p:nvPr/>
        </p:nvSpPr>
        <p:spPr>
          <a:xfrm>
            <a:off x="7772400" y="2496312"/>
            <a:ext cx="3840480" cy="548640"/>
          </a:xfrm>
          <a:prstGeom prst="rect">
            <a:avLst/>
          </a:prstGeom>
          <a:noFill/>
          <a:ln/>
        </p:spPr>
        <p:txBody>
          <a:bodyPr wrap="square" lIns="0" tIns="0" rIns="0" bIns="0" rtlCol="0" anchor="ctr"/>
          <a:lstStyle/>
          <a:p>
            <a:pPr marL="0" indent="0">
              <a:buNone/>
            </a:pPr>
            <a:r>
              <a:rPr lang="en-US" sz="1250" dirty="0">
                <a:solidFill>
                  <a:srgbClr val="B98D8B"/>
                </a:solidFill>
                <a:latin typeface="Calibri" pitchFamily="34" charset="0"/>
                <a:ea typeface="Calibri" pitchFamily="34" charset="-122"/>
                <a:cs typeface="Calibri" pitchFamily="34" charset="-120"/>
              </a:rPr>
              <a:t>what needs to be computed</a:t>
            </a:r>
            <a:endParaRPr lang="en-US" sz="1250" dirty="0"/>
          </a:p>
        </p:txBody>
      </p:sp>
      <p:sp>
        <p:nvSpPr>
          <p:cNvPr id="10" name="Shape 8"/>
          <p:cNvSpPr/>
          <p:nvPr/>
        </p:nvSpPr>
        <p:spPr>
          <a:xfrm>
            <a:off x="7498080" y="3246120"/>
            <a:ext cx="128016" cy="128016"/>
          </a:xfrm>
          <a:prstGeom prst="ellipse">
            <a:avLst/>
          </a:prstGeom>
          <a:solidFill>
            <a:srgbClr val="4FAEB5"/>
          </a:solidFill>
          <a:ln/>
        </p:spPr>
        <p:txBody>
          <a:bodyPr/>
          <a:lstStyle/>
          <a:p>
            <a:endParaRPr lang="en-US"/>
          </a:p>
        </p:txBody>
      </p:sp>
      <p:sp>
        <p:nvSpPr>
          <p:cNvPr id="11" name="Text 9"/>
          <p:cNvSpPr txBox="1"/>
          <p:nvPr/>
        </p:nvSpPr>
        <p:spPr>
          <a:xfrm>
            <a:off x="7772400" y="3127248"/>
            <a:ext cx="3840480" cy="320040"/>
          </a:xfrm>
          <a:prstGeom prst="rect">
            <a:avLst/>
          </a:prstGeom>
          <a:noFill/>
          <a:ln/>
        </p:spPr>
        <p:txBody>
          <a:bodyPr wrap="square" lIns="0" tIns="0" rIns="0" bIns="0" rtlCol="0" anchor="ctr"/>
          <a:lstStyle/>
          <a:p>
            <a:pPr marL="0" indent="0">
              <a:buNone/>
            </a:pPr>
            <a:r>
              <a:rPr lang="en-US" sz="1500" b="1" dirty="0">
                <a:solidFill>
                  <a:srgbClr val="3B0F10"/>
                </a:solidFill>
                <a:latin typeface="Calibri" pitchFamily="34" charset="0"/>
                <a:ea typeface="Calibri" pitchFamily="34" charset="-122"/>
                <a:cs typeface="Calibri" pitchFamily="34" charset="-120"/>
              </a:rPr>
              <a:t>Function computes</a:t>
            </a:r>
            <a:endParaRPr lang="en-US" sz="1500" dirty="0"/>
          </a:p>
        </p:txBody>
      </p:sp>
      <p:sp>
        <p:nvSpPr>
          <p:cNvPr id="12" name="Text 10"/>
          <p:cNvSpPr txBox="1"/>
          <p:nvPr/>
        </p:nvSpPr>
        <p:spPr>
          <a:xfrm>
            <a:off x="7772400" y="3456432"/>
            <a:ext cx="3840480" cy="548640"/>
          </a:xfrm>
          <a:prstGeom prst="rect">
            <a:avLst/>
          </a:prstGeom>
          <a:noFill/>
          <a:ln/>
        </p:spPr>
        <p:txBody>
          <a:bodyPr wrap="square" lIns="0" tIns="0" rIns="0" bIns="0" rtlCol="0" anchor="ctr"/>
          <a:lstStyle/>
          <a:p>
            <a:pPr marL="0" indent="0">
              <a:buNone/>
            </a:pPr>
            <a:r>
              <a:rPr lang="en-US" sz="1250" dirty="0">
                <a:solidFill>
                  <a:srgbClr val="B98D8B"/>
                </a:solidFill>
                <a:latin typeface="Calibri" pitchFamily="34" charset="0"/>
                <a:ea typeface="Calibri" pitchFamily="34" charset="-122"/>
                <a:cs typeface="Calibri" pitchFamily="34" charset="-120"/>
              </a:rPr>
              <a:t>a deterministic Python tool does the arithmetic</a:t>
            </a:r>
            <a:endParaRPr lang="en-US" sz="1250" dirty="0"/>
          </a:p>
        </p:txBody>
      </p:sp>
      <p:sp>
        <p:nvSpPr>
          <p:cNvPr id="13" name="Shape 11"/>
          <p:cNvSpPr/>
          <p:nvPr/>
        </p:nvSpPr>
        <p:spPr>
          <a:xfrm>
            <a:off x="7498080" y="4206240"/>
            <a:ext cx="128016" cy="128016"/>
          </a:xfrm>
          <a:prstGeom prst="ellipse">
            <a:avLst/>
          </a:prstGeom>
          <a:solidFill>
            <a:srgbClr val="4FAEB5"/>
          </a:solidFill>
          <a:ln/>
        </p:spPr>
        <p:txBody>
          <a:bodyPr/>
          <a:lstStyle/>
          <a:p>
            <a:endParaRPr lang="en-US"/>
          </a:p>
        </p:txBody>
      </p:sp>
      <p:sp>
        <p:nvSpPr>
          <p:cNvPr id="14" name="Text 12"/>
          <p:cNvSpPr txBox="1"/>
          <p:nvPr/>
        </p:nvSpPr>
        <p:spPr>
          <a:xfrm>
            <a:off x="7772400" y="4087368"/>
            <a:ext cx="3840480" cy="320040"/>
          </a:xfrm>
          <a:prstGeom prst="rect">
            <a:avLst/>
          </a:prstGeom>
          <a:noFill/>
          <a:ln/>
        </p:spPr>
        <p:txBody>
          <a:bodyPr wrap="square" lIns="0" tIns="0" rIns="0" bIns="0" rtlCol="0" anchor="ctr"/>
          <a:lstStyle/>
          <a:p>
            <a:pPr marL="0" indent="0">
              <a:buNone/>
            </a:pPr>
            <a:r>
              <a:rPr lang="en-US" sz="1500" b="1" dirty="0">
                <a:solidFill>
                  <a:srgbClr val="3B0F10"/>
                </a:solidFill>
                <a:latin typeface="Calibri" pitchFamily="34" charset="0"/>
                <a:ea typeface="Calibri" pitchFamily="34" charset="-122"/>
                <a:cs typeface="Calibri" pitchFamily="34" charset="-120"/>
              </a:rPr>
              <a:t>Never the reverse</a:t>
            </a:r>
            <a:endParaRPr lang="en-US" sz="1500" dirty="0"/>
          </a:p>
        </p:txBody>
      </p:sp>
      <p:sp>
        <p:nvSpPr>
          <p:cNvPr id="15" name="Text 13"/>
          <p:cNvSpPr txBox="1"/>
          <p:nvPr/>
        </p:nvSpPr>
        <p:spPr>
          <a:xfrm>
            <a:off x="7772400" y="4416552"/>
            <a:ext cx="3840480" cy="548640"/>
          </a:xfrm>
          <a:prstGeom prst="rect">
            <a:avLst/>
          </a:prstGeom>
          <a:noFill/>
          <a:ln/>
        </p:spPr>
        <p:txBody>
          <a:bodyPr wrap="square" lIns="0" tIns="0" rIns="0" bIns="0" rtlCol="0" anchor="ctr"/>
          <a:lstStyle/>
          <a:p>
            <a:pPr marL="0" indent="0">
              <a:buNone/>
            </a:pPr>
            <a:r>
              <a:rPr lang="en-US" sz="1250" dirty="0">
                <a:solidFill>
                  <a:srgbClr val="B98D8B"/>
                </a:solidFill>
                <a:latin typeface="Calibri" pitchFamily="34" charset="0"/>
                <a:ea typeface="Calibri" pitchFamily="34" charset="-122"/>
                <a:cs typeface="Calibri" pitchFamily="34" charset="-120"/>
              </a:rPr>
              <a:t>a model that guesses at arithmetic is less reliable, not more</a:t>
            </a:r>
            <a:endParaRPr lang="en-US" sz="1250" dirty="0"/>
          </a:p>
        </p:txBody>
      </p:sp>
      <p:sp>
        <p:nvSpPr>
          <p:cNvPr id="16" name="Text 14"/>
          <p:cNvSpPr txBox="1"/>
          <p:nvPr/>
        </p:nvSpPr>
        <p:spPr>
          <a:xfrm>
            <a:off x="7589520" y="6510528"/>
            <a:ext cx="4114800" cy="274320"/>
          </a:xfrm>
          <a:prstGeom prst="rect">
            <a:avLst/>
          </a:prstGeom>
          <a:noFill/>
          <a:ln/>
        </p:spPr>
        <p:txBody>
          <a:bodyPr wrap="square" lIns="0" tIns="0" rIns="0" bIns="0" rtlCol="0" anchor="ctr"/>
          <a:lstStyle/>
          <a:p>
            <a:pPr marL="0" indent="0" algn="r">
              <a:buNone/>
            </a:pPr>
            <a:r>
              <a:rPr lang="en-US" sz="1000" dirty="0">
                <a:solidFill>
                  <a:srgbClr val="B98D8B"/>
                </a:solidFill>
                <a:latin typeface="Calibri" pitchFamily="34" charset="0"/>
                <a:ea typeface="Calibri" pitchFamily="34" charset="-122"/>
                <a:cs typeface="Calibri" pitchFamily="34" charset="-120"/>
              </a:rPr>
              <a:t>From Exam Question to Autonomous Agent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D0607"/>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0972800" cy="365760"/>
          </a:xfrm>
          <a:prstGeom prst="rect">
            <a:avLst/>
          </a:prstGeom>
          <a:noFill/>
          <a:ln/>
        </p:spPr>
        <p:txBody>
          <a:bodyPr wrap="square" lIns="0" tIns="0" rIns="0" bIns="0" rtlCol="0" anchor="ctr"/>
          <a:lstStyle/>
          <a:p>
            <a:pPr marL="0" indent="0">
              <a:buNone/>
            </a:pPr>
            <a:r>
              <a:rPr lang="en-US" sz="1300" b="1" kern="0" spc="150" dirty="0">
                <a:solidFill>
                  <a:srgbClr val="8FDEE3"/>
                </a:solidFill>
                <a:latin typeface="Calibri" pitchFamily="34" charset="0"/>
                <a:ea typeface="Calibri" pitchFamily="34" charset="-122"/>
                <a:cs typeface="Calibri" pitchFamily="34" charset="-120"/>
              </a:rPr>
              <a:t>WHY FINANCIAL MATHEMATICS IS THE RIGHT TESTING GROUND</a:t>
            </a:r>
            <a:endParaRPr lang="en-US" sz="1300" dirty="0"/>
          </a:p>
        </p:txBody>
      </p:sp>
      <p:sp>
        <p:nvSpPr>
          <p:cNvPr id="3" name="Text 1"/>
          <p:cNvSpPr txBox="1"/>
          <p:nvPr/>
        </p:nvSpPr>
        <p:spPr>
          <a:xfrm>
            <a:off x="548640" y="822960"/>
            <a:ext cx="10972800" cy="731520"/>
          </a:xfrm>
          <a:prstGeom prst="rect">
            <a:avLst/>
          </a:prstGeom>
          <a:noFill/>
          <a:ln/>
        </p:spPr>
        <p:txBody>
          <a:bodyPr wrap="square" lIns="0" tIns="0" rIns="0" bIns="0" rtlCol="0" anchor="ctr"/>
          <a:lstStyle/>
          <a:p>
            <a:pPr marL="0" indent="0">
              <a:buNone/>
            </a:pPr>
            <a:r>
              <a:rPr lang="en-US" sz="3000" b="1" dirty="0">
                <a:solidFill>
                  <a:srgbClr val="F5EDEA"/>
                </a:solidFill>
                <a:latin typeface="Cambria" pitchFamily="34" charset="0"/>
                <a:ea typeface="Cambria" pitchFamily="34" charset="-122"/>
                <a:cs typeface="Cambria" pitchFamily="34" charset="-120"/>
              </a:rPr>
              <a:t>Answers you can check by hand</a:t>
            </a:r>
            <a:endParaRPr lang="en-US" sz="3000" dirty="0"/>
          </a:p>
        </p:txBody>
      </p:sp>
      <p:sp>
        <p:nvSpPr>
          <p:cNvPr id="4" name="Shape 2"/>
          <p:cNvSpPr/>
          <p:nvPr/>
        </p:nvSpPr>
        <p:spPr>
          <a:xfrm>
            <a:off x="548640" y="1965960"/>
            <a:ext cx="3520440" cy="3566160"/>
          </a:xfrm>
          <a:prstGeom prst="roundRect">
            <a:avLst>
              <a:gd name="adj" fmla="val 2597"/>
            </a:avLst>
          </a:prstGeom>
          <a:solidFill>
            <a:srgbClr val="471113"/>
          </a:solidFill>
          <a:ln/>
        </p:spPr>
        <p:txBody>
          <a:bodyPr/>
          <a:lstStyle/>
          <a:p>
            <a:endParaRPr lang="en-US"/>
          </a:p>
        </p:txBody>
      </p:sp>
      <p:sp>
        <p:nvSpPr>
          <p:cNvPr id="5" name="Shape 3"/>
          <p:cNvSpPr/>
          <p:nvPr/>
        </p:nvSpPr>
        <p:spPr>
          <a:xfrm>
            <a:off x="868680" y="2286000"/>
            <a:ext cx="640080" cy="640080"/>
          </a:xfrm>
          <a:prstGeom prst="ellipse">
            <a:avLst/>
          </a:prstGeom>
          <a:solidFill>
            <a:srgbClr val="8FDEE3"/>
          </a:solidFill>
          <a:ln/>
        </p:spPr>
        <p:txBody>
          <a:bodyPr/>
          <a:lstStyle/>
          <a:p>
            <a:endParaRPr lang="en-US"/>
          </a:p>
        </p:txBody>
      </p:sp>
      <p:sp>
        <p:nvSpPr>
          <p:cNvPr id="6" name="Text 4"/>
          <p:cNvSpPr txBox="1"/>
          <p:nvPr/>
        </p:nvSpPr>
        <p:spPr>
          <a:xfrm>
            <a:off x="868680" y="2286000"/>
            <a:ext cx="640080" cy="640080"/>
          </a:xfrm>
          <a:prstGeom prst="rect">
            <a:avLst/>
          </a:prstGeom>
          <a:noFill/>
          <a:ln/>
        </p:spPr>
        <p:txBody>
          <a:bodyPr wrap="square" lIns="0" tIns="0" rIns="0" bIns="0" rtlCol="0" anchor="ctr"/>
          <a:lstStyle/>
          <a:p>
            <a:pPr marL="0" indent="0" algn="ctr">
              <a:buNone/>
            </a:pPr>
            <a:r>
              <a:rPr lang="en-US" sz="2400" b="1" dirty="0">
                <a:solidFill>
                  <a:srgbClr val="3B0F10"/>
                </a:solidFill>
                <a:latin typeface="Cambria" pitchFamily="34" charset="0"/>
                <a:ea typeface="Cambria" pitchFamily="34" charset="-122"/>
                <a:cs typeface="Cambria" pitchFamily="34" charset="-120"/>
              </a:rPr>
              <a:t>1</a:t>
            </a:r>
            <a:endParaRPr lang="en-US" sz="2400" dirty="0"/>
          </a:p>
        </p:txBody>
      </p:sp>
      <p:sp>
        <p:nvSpPr>
          <p:cNvPr id="7" name="Text 5"/>
          <p:cNvSpPr txBox="1"/>
          <p:nvPr/>
        </p:nvSpPr>
        <p:spPr>
          <a:xfrm>
            <a:off x="822960" y="3108960"/>
            <a:ext cx="2971800" cy="731520"/>
          </a:xfrm>
          <a:prstGeom prst="rect">
            <a:avLst/>
          </a:prstGeom>
          <a:noFill/>
          <a:ln/>
        </p:spPr>
        <p:txBody>
          <a:bodyPr wrap="square" lIns="0" tIns="0" rIns="0" bIns="0" rtlCol="0" anchor="ctr"/>
          <a:lstStyle/>
          <a:p>
            <a:pPr marL="0" indent="0">
              <a:buNone/>
            </a:pPr>
            <a:r>
              <a:rPr lang="en-US" sz="1700" b="1" dirty="0">
                <a:solidFill>
                  <a:srgbClr val="F5EDEA"/>
                </a:solidFill>
                <a:latin typeface="Calibri" pitchFamily="34" charset="0"/>
                <a:ea typeface="Calibri" pitchFamily="34" charset="-122"/>
                <a:cs typeface="Calibri" pitchFamily="34" charset="-120"/>
              </a:rPr>
              <a:t>Single, checkable answer</a:t>
            </a:r>
            <a:endParaRPr lang="en-US" sz="1700" dirty="0"/>
          </a:p>
        </p:txBody>
      </p:sp>
      <p:sp>
        <p:nvSpPr>
          <p:cNvPr id="8" name="Text 6"/>
          <p:cNvSpPr txBox="1"/>
          <p:nvPr/>
        </p:nvSpPr>
        <p:spPr>
          <a:xfrm>
            <a:off x="822960" y="3840480"/>
            <a:ext cx="2971800" cy="1554480"/>
          </a:xfrm>
          <a:prstGeom prst="rect">
            <a:avLst/>
          </a:prstGeom>
          <a:noFill/>
          <a:ln/>
        </p:spPr>
        <p:txBody>
          <a:bodyPr wrap="square" lIns="0" tIns="0" rIns="0" bIns="0" rtlCol="0" anchor="ctr"/>
          <a:lstStyle/>
          <a:p>
            <a:pPr marL="0" indent="0">
              <a:buNone/>
            </a:pPr>
            <a:r>
              <a:rPr lang="en-US" sz="1300" dirty="0">
                <a:solidFill>
                  <a:srgbClr val="8FDEE3"/>
                </a:solidFill>
                <a:latin typeface="Calibri" pitchFamily="34" charset="0"/>
                <a:ea typeface="Calibri" pitchFamily="34" charset="-122"/>
                <a:cs typeface="Calibri" pitchFamily="34" charset="-120"/>
              </a:rPr>
              <a:t>Unlike most agent applications, “correct” is not fuzzy — every problem has one verifiable number.</a:t>
            </a:r>
            <a:endParaRPr lang="en-US" sz="1300" dirty="0"/>
          </a:p>
        </p:txBody>
      </p:sp>
      <p:sp>
        <p:nvSpPr>
          <p:cNvPr id="9" name="Shape 7"/>
          <p:cNvSpPr/>
          <p:nvPr/>
        </p:nvSpPr>
        <p:spPr>
          <a:xfrm>
            <a:off x="4343400" y="1965960"/>
            <a:ext cx="3520440" cy="3566160"/>
          </a:xfrm>
          <a:prstGeom prst="roundRect">
            <a:avLst>
              <a:gd name="adj" fmla="val 2597"/>
            </a:avLst>
          </a:prstGeom>
          <a:solidFill>
            <a:srgbClr val="471113"/>
          </a:solidFill>
          <a:ln/>
        </p:spPr>
        <p:txBody>
          <a:bodyPr/>
          <a:lstStyle/>
          <a:p>
            <a:endParaRPr lang="en-US"/>
          </a:p>
        </p:txBody>
      </p:sp>
      <p:sp>
        <p:nvSpPr>
          <p:cNvPr id="10" name="Shape 8"/>
          <p:cNvSpPr/>
          <p:nvPr/>
        </p:nvSpPr>
        <p:spPr>
          <a:xfrm>
            <a:off x="4663440" y="2286000"/>
            <a:ext cx="640080" cy="640080"/>
          </a:xfrm>
          <a:prstGeom prst="ellipse">
            <a:avLst/>
          </a:prstGeom>
          <a:solidFill>
            <a:srgbClr val="8FDEE3"/>
          </a:solidFill>
          <a:ln/>
        </p:spPr>
        <p:txBody>
          <a:bodyPr/>
          <a:lstStyle/>
          <a:p>
            <a:endParaRPr lang="en-US"/>
          </a:p>
        </p:txBody>
      </p:sp>
      <p:sp>
        <p:nvSpPr>
          <p:cNvPr id="11" name="Text 9"/>
          <p:cNvSpPr txBox="1"/>
          <p:nvPr/>
        </p:nvSpPr>
        <p:spPr>
          <a:xfrm>
            <a:off x="4663440" y="2286000"/>
            <a:ext cx="640080" cy="640080"/>
          </a:xfrm>
          <a:prstGeom prst="rect">
            <a:avLst/>
          </a:prstGeom>
          <a:noFill/>
          <a:ln/>
        </p:spPr>
        <p:txBody>
          <a:bodyPr wrap="square" lIns="0" tIns="0" rIns="0" bIns="0" rtlCol="0" anchor="ctr"/>
          <a:lstStyle/>
          <a:p>
            <a:pPr marL="0" indent="0" algn="ctr">
              <a:buNone/>
            </a:pPr>
            <a:r>
              <a:rPr lang="en-US" sz="2400" b="1" dirty="0">
                <a:solidFill>
                  <a:srgbClr val="3B0F10"/>
                </a:solidFill>
                <a:latin typeface="Cambria" pitchFamily="34" charset="0"/>
                <a:ea typeface="Cambria" pitchFamily="34" charset="-122"/>
                <a:cs typeface="Cambria" pitchFamily="34" charset="-120"/>
              </a:rPr>
              <a:t>2</a:t>
            </a:r>
            <a:endParaRPr lang="en-US" sz="2400" dirty="0"/>
          </a:p>
        </p:txBody>
      </p:sp>
      <p:sp>
        <p:nvSpPr>
          <p:cNvPr id="12" name="Text 10"/>
          <p:cNvSpPr txBox="1"/>
          <p:nvPr/>
        </p:nvSpPr>
        <p:spPr>
          <a:xfrm>
            <a:off x="4617720" y="3108960"/>
            <a:ext cx="2971800" cy="731520"/>
          </a:xfrm>
          <a:prstGeom prst="rect">
            <a:avLst/>
          </a:prstGeom>
          <a:noFill/>
          <a:ln/>
        </p:spPr>
        <p:txBody>
          <a:bodyPr wrap="square" lIns="0" tIns="0" rIns="0" bIns="0" rtlCol="0" anchor="ctr"/>
          <a:lstStyle/>
          <a:p>
            <a:pPr marL="0" indent="0">
              <a:buNone/>
            </a:pPr>
            <a:r>
              <a:rPr lang="en-US" sz="1700" b="1" dirty="0">
                <a:solidFill>
                  <a:srgbClr val="F5EDEA"/>
                </a:solidFill>
                <a:latin typeface="Calibri" pitchFamily="34" charset="0"/>
                <a:ea typeface="Calibri" pitchFamily="34" charset="-122"/>
                <a:cs typeface="Calibri" pitchFamily="34" charset="-120"/>
              </a:rPr>
              <a:t>Errors become visible</a:t>
            </a:r>
            <a:endParaRPr lang="en-US" sz="1700" dirty="0"/>
          </a:p>
        </p:txBody>
      </p:sp>
      <p:sp>
        <p:nvSpPr>
          <p:cNvPr id="13" name="Text 11"/>
          <p:cNvSpPr txBox="1"/>
          <p:nvPr/>
        </p:nvSpPr>
        <p:spPr>
          <a:xfrm>
            <a:off x="4617720" y="3840480"/>
            <a:ext cx="2971800" cy="1554480"/>
          </a:xfrm>
          <a:prstGeom prst="rect">
            <a:avLst/>
          </a:prstGeom>
          <a:noFill/>
          <a:ln/>
        </p:spPr>
        <p:txBody>
          <a:bodyPr wrap="square" lIns="0" tIns="0" rIns="0" bIns="0" rtlCol="0" anchor="ctr"/>
          <a:lstStyle/>
          <a:p>
            <a:pPr marL="0" indent="0">
              <a:buNone/>
            </a:pPr>
            <a:r>
              <a:rPr lang="en-US" sz="1300" dirty="0">
                <a:solidFill>
                  <a:srgbClr val="8FDEE3"/>
                </a:solidFill>
                <a:latin typeface="Calibri" pitchFamily="34" charset="0"/>
                <a:ea typeface="Calibri" pitchFamily="34" charset="-122"/>
                <a:cs typeface="Calibri" pitchFamily="34" charset="-120"/>
              </a:rPr>
              <a:t>Students can verify an agent's answer the same way they'd check their own worked solution.</a:t>
            </a:r>
            <a:endParaRPr lang="en-US" sz="1300" dirty="0"/>
          </a:p>
        </p:txBody>
      </p:sp>
      <p:sp>
        <p:nvSpPr>
          <p:cNvPr id="14" name="Shape 12"/>
          <p:cNvSpPr/>
          <p:nvPr/>
        </p:nvSpPr>
        <p:spPr>
          <a:xfrm>
            <a:off x="8138160" y="1965960"/>
            <a:ext cx="3520440" cy="3566160"/>
          </a:xfrm>
          <a:prstGeom prst="roundRect">
            <a:avLst>
              <a:gd name="adj" fmla="val 2597"/>
            </a:avLst>
          </a:prstGeom>
          <a:solidFill>
            <a:srgbClr val="471113"/>
          </a:solidFill>
          <a:ln/>
        </p:spPr>
        <p:txBody>
          <a:bodyPr/>
          <a:lstStyle/>
          <a:p>
            <a:endParaRPr lang="en-US"/>
          </a:p>
        </p:txBody>
      </p:sp>
      <p:sp>
        <p:nvSpPr>
          <p:cNvPr id="15" name="Shape 13"/>
          <p:cNvSpPr/>
          <p:nvPr/>
        </p:nvSpPr>
        <p:spPr>
          <a:xfrm>
            <a:off x="8458200" y="2286000"/>
            <a:ext cx="640080" cy="640080"/>
          </a:xfrm>
          <a:prstGeom prst="ellipse">
            <a:avLst/>
          </a:prstGeom>
          <a:solidFill>
            <a:srgbClr val="8FDEE3"/>
          </a:solidFill>
          <a:ln/>
        </p:spPr>
        <p:txBody>
          <a:bodyPr/>
          <a:lstStyle/>
          <a:p>
            <a:endParaRPr lang="en-US"/>
          </a:p>
        </p:txBody>
      </p:sp>
      <p:sp>
        <p:nvSpPr>
          <p:cNvPr id="16" name="Text 14"/>
          <p:cNvSpPr txBox="1"/>
          <p:nvPr/>
        </p:nvSpPr>
        <p:spPr>
          <a:xfrm>
            <a:off x="8458200" y="2286000"/>
            <a:ext cx="640080" cy="640080"/>
          </a:xfrm>
          <a:prstGeom prst="rect">
            <a:avLst/>
          </a:prstGeom>
          <a:noFill/>
          <a:ln/>
        </p:spPr>
        <p:txBody>
          <a:bodyPr wrap="square" lIns="0" tIns="0" rIns="0" bIns="0" rtlCol="0" anchor="ctr"/>
          <a:lstStyle/>
          <a:p>
            <a:pPr marL="0" indent="0" algn="ctr">
              <a:buNone/>
            </a:pPr>
            <a:r>
              <a:rPr lang="en-US" sz="2400" b="1" dirty="0">
                <a:solidFill>
                  <a:srgbClr val="3B0F10"/>
                </a:solidFill>
                <a:latin typeface="Cambria" pitchFamily="34" charset="0"/>
                <a:ea typeface="Cambria" pitchFamily="34" charset="-122"/>
                <a:cs typeface="Cambria" pitchFamily="34" charset="-120"/>
              </a:rPr>
              <a:t>3</a:t>
            </a:r>
            <a:endParaRPr lang="en-US" sz="2400" dirty="0"/>
          </a:p>
        </p:txBody>
      </p:sp>
      <p:sp>
        <p:nvSpPr>
          <p:cNvPr id="17" name="Text 15"/>
          <p:cNvSpPr txBox="1"/>
          <p:nvPr/>
        </p:nvSpPr>
        <p:spPr>
          <a:xfrm>
            <a:off x="8412480" y="3108960"/>
            <a:ext cx="2971800" cy="731520"/>
          </a:xfrm>
          <a:prstGeom prst="rect">
            <a:avLst/>
          </a:prstGeom>
          <a:noFill/>
          <a:ln/>
        </p:spPr>
        <p:txBody>
          <a:bodyPr wrap="square" lIns="0" tIns="0" rIns="0" bIns="0" rtlCol="0" anchor="ctr"/>
          <a:lstStyle/>
          <a:p>
            <a:pPr marL="0" indent="0">
              <a:buNone/>
            </a:pPr>
            <a:r>
              <a:rPr lang="en-US" sz="1700" b="1" dirty="0">
                <a:solidFill>
                  <a:srgbClr val="F5EDEA"/>
                </a:solidFill>
                <a:latin typeface="Calibri" pitchFamily="34" charset="0"/>
                <a:ea typeface="Calibri" pitchFamily="34" charset="-122"/>
                <a:cs typeface="Calibri" pitchFamily="34" charset="-120"/>
              </a:rPr>
              <a:t>The industry stakes are real</a:t>
            </a:r>
            <a:endParaRPr lang="en-US" sz="1700" dirty="0"/>
          </a:p>
        </p:txBody>
      </p:sp>
      <p:sp>
        <p:nvSpPr>
          <p:cNvPr id="18" name="Text 16"/>
          <p:cNvSpPr txBox="1"/>
          <p:nvPr/>
        </p:nvSpPr>
        <p:spPr>
          <a:xfrm>
            <a:off x="8412480" y="3840480"/>
            <a:ext cx="2971800" cy="1554480"/>
          </a:xfrm>
          <a:prstGeom prst="rect">
            <a:avLst/>
          </a:prstGeom>
          <a:noFill/>
          <a:ln/>
        </p:spPr>
        <p:txBody>
          <a:bodyPr wrap="square" lIns="0" tIns="0" rIns="0" bIns="0" rtlCol="0" anchor="ctr"/>
          <a:lstStyle/>
          <a:p>
            <a:pPr marL="0" indent="0">
              <a:buNone/>
            </a:pPr>
            <a:r>
              <a:rPr lang="en-US" sz="1300" dirty="0">
                <a:solidFill>
                  <a:srgbClr val="8FDEE3"/>
                </a:solidFill>
                <a:latin typeface="Calibri" pitchFamily="34" charset="0"/>
                <a:ea typeface="Calibri" pitchFamily="34" charset="-122"/>
                <a:cs typeface="Calibri" pitchFamily="34" charset="-120"/>
              </a:rPr>
              <a:t>Actuarial and insurance work is already experimenting with LLM tools — and risks the same arithmetic-reliability trap.</a:t>
            </a:r>
            <a:endParaRPr lang="en-US" sz="1300" dirty="0"/>
          </a:p>
        </p:txBody>
      </p:sp>
      <p:sp>
        <p:nvSpPr>
          <p:cNvPr id="19" name="Text 17"/>
          <p:cNvSpPr txBox="1"/>
          <p:nvPr/>
        </p:nvSpPr>
        <p:spPr>
          <a:xfrm>
            <a:off x="7589520" y="6510528"/>
            <a:ext cx="4114800" cy="274320"/>
          </a:xfrm>
          <a:prstGeom prst="rect">
            <a:avLst/>
          </a:prstGeom>
          <a:noFill/>
          <a:ln/>
        </p:spPr>
        <p:txBody>
          <a:bodyPr wrap="square" lIns="0" tIns="0" rIns="0" bIns="0" rtlCol="0" anchor="ctr"/>
          <a:lstStyle/>
          <a:p>
            <a:pPr marL="0" indent="0" algn="r">
              <a:buNone/>
            </a:pPr>
            <a:r>
              <a:rPr lang="en-US" sz="1000" dirty="0">
                <a:solidFill>
                  <a:srgbClr val="B98D8B"/>
                </a:solidFill>
                <a:latin typeface="Calibri" pitchFamily="34" charset="0"/>
                <a:ea typeface="Calibri" pitchFamily="34" charset="-122"/>
                <a:cs typeface="Calibri" pitchFamily="34" charset="-120"/>
              </a:rPr>
              <a:t>From Exam Question to Autonomous Agent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300" b="1" kern="0" spc="150" dirty="0">
                <a:solidFill>
                  <a:srgbClr val="4FAEB5"/>
                </a:solidFill>
                <a:latin typeface="Calibri" pitchFamily="34" charset="0"/>
                <a:ea typeface="Calibri" pitchFamily="34" charset="-122"/>
                <a:cs typeface="Calibri" pitchFamily="34" charset="-120"/>
              </a:rPr>
              <a:t>THE LLM AS A REASONING ENGINE</a:t>
            </a:r>
            <a:endParaRPr lang="en-US" sz="1300" dirty="0"/>
          </a:p>
        </p:txBody>
      </p:sp>
      <p:sp>
        <p:nvSpPr>
          <p:cNvPr id="3" name="Text 1"/>
          <p:cNvSpPr txBox="1"/>
          <p:nvPr/>
        </p:nvSpPr>
        <p:spPr>
          <a:xfrm>
            <a:off x="548640" y="777240"/>
            <a:ext cx="6583680" cy="1371600"/>
          </a:xfrm>
          <a:prstGeom prst="rect">
            <a:avLst/>
          </a:prstGeom>
          <a:noFill/>
          <a:ln/>
        </p:spPr>
        <p:txBody>
          <a:bodyPr wrap="square" lIns="0" tIns="0" rIns="0" bIns="0" rtlCol="0" anchor="ctr"/>
          <a:lstStyle/>
          <a:p>
            <a:pPr marL="0" indent="0">
              <a:lnSpc>
                <a:spcPts val="3400"/>
              </a:lnSpc>
              <a:buNone/>
            </a:pPr>
            <a:r>
              <a:rPr lang="en-US" sz="3000" b="1" dirty="0">
                <a:solidFill>
                  <a:srgbClr val="3B0F10"/>
                </a:solidFill>
                <a:latin typeface="Cambria" pitchFamily="34" charset="0"/>
                <a:ea typeface="Cambria" pitchFamily="34" charset="-122"/>
                <a:cs typeface="Cambria" pitchFamily="34" charset="-120"/>
              </a:rPr>
              <a:t>Decide what to compute —</a:t>
            </a:r>
            <a:endParaRPr lang="en-US" sz="3000" dirty="0"/>
          </a:p>
          <a:p>
            <a:pPr marL="0" indent="0">
              <a:lnSpc>
                <a:spcPts val="3400"/>
              </a:lnSpc>
              <a:buNone/>
            </a:pPr>
            <a:r>
              <a:rPr lang="en-US" sz="3000" b="1" dirty="0">
                <a:solidFill>
                  <a:srgbClr val="3B0F10"/>
                </a:solidFill>
                <a:latin typeface="Cambria" pitchFamily="34" charset="0"/>
                <a:ea typeface="Cambria" pitchFamily="34" charset="-122"/>
                <a:cs typeface="Cambria" pitchFamily="34" charset="-120"/>
              </a:rPr>
              <a:t>never compute it</a:t>
            </a:r>
            <a:endParaRPr lang="en-US" sz="3000" dirty="0"/>
          </a:p>
        </p:txBody>
      </p:sp>
      <p:sp>
        <p:nvSpPr>
          <p:cNvPr id="4" name="Text 2"/>
          <p:cNvSpPr txBox="1"/>
          <p:nvPr/>
        </p:nvSpPr>
        <p:spPr>
          <a:xfrm>
            <a:off x="548640" y="2286000"/>
            <a:ext cx="6583680" cy="1920240"/>
          </a:xfrm>
          <a:prstGeom prst="rect">
            <a:avLst/>
          </a:prstGeom>
          <a:noFill/>
          <a:ln/>
        </p:spPr>
        <p:txBody>
          <a:bodyPr wrap="square" lIns="0" tIns="0" rIns="0" bIns="0" rtlCol="0" anchor="ctr"/>
          <a:lstStyle/>
          <a:p>
            <a:pPr marL="0" indent="0">
              <a:lnSpc>
                <a:spcPct val="125000"/>
              </a:lnSpc>
              <a:buNone/>
            </a:pPr>
            <a:r>
              <a:rPr lang="en-US" sz="1500" dirty="0">
                <a:solidFill>
                  <a:srgbClr val="3B0F10"/>
                </a:solidFill>
                <a:latin typeface="Calibri" pitchFamily="34" charset="0"/>
                <a:ea typeface="Calibri" pitchFamily="34" charset="-122"/>
                <a:cs typeface="Calibri" pitchFamily="34" charset="-120"/>
              </a:rPr>
              <a:t>An LLM </a:t>
            </a:r>
            <a:r>
              <a:rPr lang="en-US" sz="1500" i="1" dirty="0">
                <a:solidFill>
                  <a:srgbClr val="B98D8B"/>
                </a:solidFill>
                <a:latin typeface="Calibri" pitchFamily="34" charset="0"/>
                <a:ea typeface="Calibri" pitchFamily="34" charset="-122"/>
                <a:cs typeface="Calibri" pitchFamily="34" charset="-120"/>
              </a:rPr>
              <a:t>(a deep learning model trained on enormous amounts of text to predict what comes next)</a:t>
            </a:r>
            <a:r>
              <a:rPr lang="en-US" sz="1500" dirty="0">
                <a:solidFill>
                  <a:srgbClr val="3B0F10"/>
                </a:solidFill>
                <a:latin typeface="Calibri" pitchFamily="34" charset="0"/>
                <a:ea typeface="Calibri" pitchFamily="34" charset="-122"/>
                <a:cs typeface="Calibri" pitchFamily="34" charset="-120"/>
              </a:rPr>
              <a:t> decides, given the request and any tool results already in context, what should happen next: call a specific tool with specific arguments, or produce a final answer.</a:t>
            </a:r>
            <a:endParaRPr lang="en-US" sz="1500" dirty="0"/>
          </a:p>
        </p:txBody>
      </p:sp>
      <p:sp>
        <p:nvSpPr>
          <p:cNvPr id="5" name="Shape 3"/>
          <p:cNvSpPr/>
          <p:nvPr/>
        </p:nvSpPr>
        <p:spPr>
          <a:xfrm>
            <a:off x="548640" y="4343400"/>
            <a:ext cx="6583680" cy="1371600"/>
          </a:xfrm>
          <a:prstGeom prst="roundRect">
            <a:avLst>
              <a:gd name="adj" fmla="val 6667"/>
            </a:avLst>
          </a:prstGeom>
          <a:solidFill>
            <a:srgbClr val="F5E4E0"/>
          </a:solidFill>
          <a:ln w="19050">
            <a:solidFill>
              <a:srgbClr val="4FAEB5"/>
            </a:solidFill>
            <a:prstDash val="solid"/>
          </a:ln>
        </p:spPr>
        <p:txBody>
          <a:bodyPr/>
          <a:lstStyle/>
          <a:p>
            <a:endParaRPr lang="en-US"/>
          </a:p>
        </p:txBody>
      </p:sp>
      <p:sp>
        <p:nvSpPr>
          <p:cNvPr id="6" name="Text 4"/>
          <p:cNvSpPr txBox="1"/>
          <p:nvPr/>
        </p:nvSpPr>
        <p:spPr>
          <a:xfrm>
            <a:off x="822960" y="4480560"/>
            <a:ext cx="6035040" cy="320040"/>
          </a:xfrm>
          <a:prstGeom prst="rect">
            <a:avLst/>
          </a:prstGeom>
          <a:noFill/>
          <a:ln/>
        </p:spPr>
        <p:txBody>
          <a:bodyPr wrap="square" lIns="0" tIns="0" rIns="0" bIns="0" rtlCol="0" anchor="ctr"/>
          <a:lstStyle/>
          <a:p>
            <a:pPr marL="0" indent="0">
              <a:buNone/>
            </a:pPr>
            <a:r>
              <a:rPr lang="en-US" sz="1300" b="1" dirty="0">
                <a:solidFill>
                  <a:srgbClr val="4FAEB5"/>
                </a:solidFill>
                <a:latin typeface="Calibri" pitchFamily="34" charset="0"/>
                <a:ea typeface="Calibri" pitchFamily="34" charset="-122"/>
                <a:cs typeface="Calibri" pitchFamily="34" charset="-120"/>
              </a:rPr>
              <a:t>The practical rule</a:t>
            </a:r>
            <a:endParaRPr lang="en-US" sz="1300" dirty="0"/>
          </a:p>
        </p:txBody>
      </p:sp>
      <p:sp>
        <p:nvSpPr>
          <p:cNvPr id="7" name="Text 5"/>
          <p:cNvSpPr txBox="1"/>
          <p:nvPr/>
        </p:nvSpPr>
        <p:spPr>
          <a:xfrm>
            <a:off x="822960" y="4800600"/>
            <a:ext cx="6035040" cy="822960"/>
          </a:xfrm>
          <a:prstGeom prst="rect">
            <a:avLst/>
          </a:prstGeom>
          <a:noFill/>
          <a:ln/>
        </p:spPr>
        <p:txBody>
          <a:bodyPr wrap="square" lIns="0" tIns="0" rIns="0" bIns="0" rtlCol="0" anchor="ctr"/>
          <a:lstStyle/>
          <a:p>
            <a:pPr marL="0" indent="0">
              <a:buNone/>
            </a:pPr>
            <a:r>
              <a:rPr lang="en-US" sz="1450" i="1" dirty="0">
                <a:solidFill>
                  <a:srgbClr val="3B0F10"/>
                </a:solidFill>
                <a:latin typeface="Calibri" pitchFamily="34" charset="0"/>
                <a:ea typeface="Calibri" pitchFamily="34" charset="-122"/>
                <a:cs typeface="Calibri" pitchFamily="34" charset="-120"/>
              </a:rPr>
              <a:t>Use the model to decide what to compute and to explain a result in words. Never let it compute the result itself.</a:t>
            </a:r>
            <a:endParaRPr lang="en-US" sz="1450" dirty="0"/>
          </a:p>
        </p:txBody>
      </p:sp>
      <p:sp>
        <p:nvSpPr>
          <p:cNvPr id="8" name="Shape 6"/>
          <p:cNvSpPr/>
          <p:nvPr/>
        </p:nvSpPr>
        <p:spPr>
          <a:xfrm>
            <a:off x="7589520" y="2286000"/>
            <a:ext cx="3931920" cy="914400"/>
          </a:xfrm>
          <a:prstGeom prst="roundRect">
            <a:avLst>
              <a:gd name="adj" fmla="val 10000"/>
            </a:avLst>
          </a:prstGeom>
          <a:solidFill>
            <a:srgbClr val="3B0F10"/>
          </a:solidFill>
          <a:ln/>
        </p:spPr>
        <p:txBody>
          <a:bodyPr/>
          <a:lstStyle/>
          <a:p>
            <a:endParaRPr lang="en-US"/>
          </a:p>
        </p:txBody>
      </p:sp>
      <p:sp>
        <p:nvSpPr>
          <p:cNvPr id="9" name="Text 7"/>
          <p:cNvSpPr txBox="1"/>
          <p:nvPr/>
        </p:nvSpPr>
        <p:spPr>
          <a:xfrm>
            <a:off x="7589520" y="2286000"/>
            <a:ext cx="3931920" cy="914400"/>
          </a:xfrm>
          <a:prstGeom prst="rect">
            <a:avLst/>
          </a:prstGeom>
          <a:noFill/>
          <a:ln/>
        </p:spPr>
        <p:txBody>
          <a:bodyPr wrap="square" lIns="0" tIns="0" rIns="0" bIns="0" rtlCol="0" anchor="ctr"/>
          <a:lstStyle/>
          <a:p>
            <a:pPr marL="0" indent="0" algn="ctr">
              <a:buNone/>
            </a:pPr>
            <a:r>
              <a:rPr lang="en-US" sz="1400" b="1" dirty="0">
                <a:solidFill>
                  <a:srgbClr val="F5EDEA"/>
                </a:solidFill>
                <a:latin typeface="Calibri" pitchFamily="34" charset="0"/>
                <a:ea typeface="Calibri" pitchFamily="34" charset="-122"/>
                <a:cs typeface="Calibri" pitchFamily="34" charset="-120"/>
              </a:rPr>
              <a:t>Request + context</a:t>
            </a:r>
            <a:endParaRPr lang="en-US" sz="1400" dirty="0"/>
          </a:p>
        </p:txBody>
      </p:sp>
      <p:sp>
        <p:nvSpPr>
          <p:cNvPr id="10" name="Shape 8"/>
          <p:cNvSpPr/>
          <p:nvPr/>
        </p:nvSpPr>
        <p:spPr>
          <a:xfrm>
            <a:off x="9555480" y="3200400"/>
            <a:ext cx="0" cy="411480"/>
          </a:xfrm>
          <a:prstGeom prst="line">
            <a:avLst/>
          </a:prstGeom>
          <a:noFill/>
          <a:ln w="19050">
            <a:solidFill>
              <a:srgbClr val="B98D8B"/>
            </a:solidFill>
            <a:prstDash val="solid"/>
            <a:tailEnd type="triangle"/>
          </a:ln>
        </p:spPr>
        <p:txBody>
          <a:bodyPr/>
          <a:lstStyle/>
          <a:p>
            <a:endParaRPr lang="en-US"/>
          </a:p>
        </p:txBody>
      </p:sp>
      <p:sp>
        <p:nvSpPr>
          <p:cNvPr id="11" name="Shape 9"/>
          <p:cNvSpPr/>
          <p:nvPr/>
        </p:nvSpPr>
        <p:spPr>
          <a:xfrm>
            <a:off x="7589520" y="3611880"/>
            <a:ext cx="3931920" cy="914400"/>
          </a:xfrm>
          <a:prstGeom prst="roundRect">
            <a:avLst>
              <a:gd name="adj" fmla="val 10000"/>
            </a:avLst>
          </a:prstGeom>
          <a:solidFill>
            <a:srgbClr val="4FAEB5"/>
          </a:solidFill>
          <a:ln/>
        </p:spPr>
        <p:txBody>
          <a:bodyPr/>
          <a:lstStyle/>
          <a:p>
            <a:endParaRPr lang="en-US"/>
          </a:p>
        </p:txBody>
      </p:sp>
      <p:sp>
        <p:nvSpPr>
          <p:cNvPr id="12" name="Text 10"/>
          <p:cNvSpPr txBox="1"/>
          <p:nvPr/>
        </p:nvSpPr>
        <p:spPr>
          <a:xfrm>
            <a:off x="7589520" y="3611880"/>
            <a:ext cx="3931920" cy="914400"/>
          </a:xfrm>
          <a:prstGeom prst="rect">
            <a:avLst/>
          </a:prstGeom>
          <a:noFill/>
          <a:ln/>
        </p:spPr>
        <p:txBody>
          <a:bodyPr wrap="square" lIns="0" tIns="0" rIns="0" bIns="0" rtlCol="0" anchor="ctr"/>
          <a:lstStyle/>
          <a:p>
            <a:pPr marL="0" indent="0" algn="ctr">
              <a:buNone/>
            </a:pPr>
            <a:r>
              <a:rPr lang="en-US" sz="1400" b="1" dirty="0">
                <a:solidFill>
                  <a:srgbClr val="F5EDEA"/>
                </a:solidFill>
                <a:latin typeface="Calibri" pitchFamily="34" charset="0"/>
                <a:ea typeface="Calibri" pitchFamily="34" charset="-122"/>
                <a:cs typeface="Calibri" pitchFamily="34" charset="-120"/>
              </a:rPr>
              <a:t>LLM reasoning step</a:t>
            </a:r>
            <a:endParaRPr lang="en-US" sz="1400" dirty="0"/>
          </a:p>
        </p:txBody>
      </p:sp>
      <p:sp>
        <p:nvSpPr>
          <p:cNvPr id="13" name="Shape 11"/>
          <p:cNvSpPr/>
          <p:nvPr/>
        </p:nvSpPr>
        <p:spPr>
          <a:xfrm>
            <a:off x="9555480" y="4526280"/>
            <a:ext cx="0" cy="411480"/>
          </a:xfrm>
          <a:prstGeom prst="line">
            <a:avLst/>
          </a:prstGeom>
          <a:noFill/>
          <a:ln w="19050">
            <a:solidFill>
              <a:srgbClr val="B98D8B"/>
            </a:solidFill>
            <a:prstDash val="solid"/>
            <a:tailEnd type="triangle"/>
          </a:ln>
        </p:spPr>
        <p:txBody>
          <a:bodyPr/>
          <a:lstStyle/>
          <a:p>
            <a:endParaRPr lang="en-US"/>
          </a:p>
        </p:txBody>
      </p:sp>
      <p:sp>
        <p:nvSpPr>
          <p:cNvPr id="14" name="Shape 12"/>
          <p:cNvSpPr/>
          <p:nvPr/>
        </p:nvSpPr>
        <p:spPr>
          <a:xfrm>
            <a:off x="7589520" y="4937760"/>
            <a:ext cx="1848002" cy="914400"/>
          </a:xfrm>
          <a:prstGeom prst="roundRect">
            <a:avLst>
              <a:gd name="adj" fmla="val 10000"/>
            </a:avLst>
          </a:prstGeom>
          <a:solidFill>
            <a:srgbClr val="F0A050"/>
          </a:solidFill>
          <a:ln/>
        </p:spPr>
        <p:txBody>
          <a:bodyPr/>
          <a:lstStyle/>
          <a:p>
            <a:endParaRPr lang="en-US"/>
          </a:p>
        </p:txBody>
      </p:sp>
      <p:sp>
        <p:nvSpPr>
          <p:cNvPr id="15" name="Text 13"/>
          <p:cNvSpPr txBox="1"/>
          <p:nvPr/>
        </p:nvSpPr>
        <p:spPr>
          <a:xfrm>
            <a:off x="7589520" y="4937760"/>
            <a:ext cx="1848002" cy="914400"/>
          </a:xfrm>
          <a:prstGeom prst="rect">
            <a:avLst/>
          </a:prstGeom>
          <a:noFill/>
          <a:ln/>
        </p:spPr>
        <p:txBody>
          <a:bodyPr wrap="square" lIns="0" tIns="0" rIns="0" bIns="0" rtlCol="0" anchor="ctr"/>
          <a:lstStyle/>
          <a:p>
            <a:pPr marL="0" indent="0" algn="ctr">
              <a:buNone/>
            </a:pPr>
            <a:r>
              <a:rPr lang="en-US" sz="1300" b="1" dirty="0">
                <a:solidFill>
                  <a:srgbClr val="F5EDEA"/>
                </a:solidFill>
                <a:latin typeface="Calibri" pitchFamily="34" charset="0"/>
                <a:ea typeface="Calibri" pitchFamily="34" charset="-122"/>
                <a:cs typeface="Calibri" pitchFamily="34" charset="-120"/>
              </a:rPr>
              <a:t>Call a tool</a:t>
            </a:r>
            <a:endParaRPr lang="en-US" sz="1300" dirty="0"/>
          </a:p>
        </p:txBody>
      </p:sp>
      <p:sp>
        <p:nvSpPr>
          <p:cNvPr id="16" name="Shape 14"/>
          <p:cNvSpPr/>
          <p:nvPr/>
        </p:nvSpPr>
        <p:spPr>
          <a:xfrm>
            <a:off x="9673438" y="4937760"/>
            <a:ext cx="1848002" cy="914400"/>
          </a:xfrm>
          <a:prstGeom prst="roundRect">
            <a:avLst>
              <a:gd name="adj" fmla="val 10000"/>
            </a:avLst>
          </a:prstGeom>
          <a:solidFill>
            <a:srgbClr val="E4CFCB"/>
          </a:solidFill>
          <a:ln/>
        </p:spPr>
        <p:txBody>
          <a:bodyPr/>
          <a:lstStyle/>
          <a:p>
            <a:endParaRPr lang="en-US"/>
          </a:p>
        </p:txBody>
      </p:sp>
      <p:sp>
        <p:nvSpPr>
          <p:cNvPr id="17" name="Text 15"/>
          <p:cNvSpPr txBox="1"/>
          <p:nvPr/>
        </p:nvSpPr>
        <p:spPr>
          <a:xfrm>
            <a:off x="9673438" y="4937760"/>
            <a:ext cx="1848002" cy="914400"/>
          </a:xfrm>
          <a:prstGeom prst="rect">
            <a:avLst/>
          </a:prstGeom>
          <a:noFill/>
          <a:ln/>
        </p:spPr>
        <p:txBody>
          <a:bodyPr wrap="square" lIns="0" tIns="0" rIns="0" bIns="0" rtlCol="0" anchor="ctr"/>
          <a:lstStyle/>
          <a:p>
            <a:pPr marL="0" indent="0" algn="ctr">
              <a:buNone/>
            </a:pPr>
            <a:r>
              <a:rPr lang="en-US" sz="1300" b="1" dirty="0">
                <a:solidFill>
                  <a:srgbClr val="3B0F10"/>
                </a:solidFill>
                <a:latin typeface="Calibri" pitchFamily="34" charset="0"/>
                <a:ea typeface="Calibri" pitchFamily="34" charset="-122"/>
                <a:cs typeface="Calibri" pitchFamily="34" charset="-120"/>
              </a:rPr>
              <a:t>Final answer</a:t>
            </a:r>
            <a:endParaRPr lang="en-US" sz="1300" dirty="0"/>
          </a:p>
        </p:txBody>
      </p:sp>
      <p:sp>
        <p:nvSpPr>
          <p:cNvPr id="18" name="Text 16"/>
          <p:cNvSpPr txBox="1"/>
          <p:nvPr/>
        </p:nvSpPr>
        <p:spPr>
          <a:xfrm>
            <a:off x="7589520" y="6510528"/>
            <a:ext cx="4114800" cy="274320"/>
          </a:xfrm>
          <a:prstGeom prst="rect">
            <a:avLst/>
          </a:prstGeom>
          <a:noFill/>
          <a:ln/>
        </p:spPr>
        <p:txBody>
          <a:bodyPr wrap="square" lIns="0" tIns="0" rIns="0" bIns="0" rtlCol="0" anchor="ctr"/>
          <a:lstStyle/>
          <a:p>
            <a:pPr marL="0" indent="0" algn="r">
              <a:buNone/>
            </a:pPr>
            <a:r>
              <a:rPr lang="en-US" sz="1000" dirty="0">
                <a:solidFill>
                  <a:srgbClr val="B98D8B"/>
                </a:solidFill>
                <a:latin typeface="Calibri" pitchFamily="34" charset="0"/>
                <a:ea typeface="Calibri" pitchFamily="34" charset="-122"/>
                <a:cs typeface="Calibri" pitchFamily="34" charset="-120"/>
              </a:rPr>
              <a:t>From Exam Question to Autonomous Agent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365760"/>
          </a:xfrm>
          <a:prstGeom prst="rect">
            <a:avLst/>
          </a:prstGeom>
          <a:noFill/>
          <a:ln/>
        </p:spPr>
        <p:txBody>
          <a:bodyPr wrap="square" lIns="0" tIns="0" rIns="0" bIns="0" rtlCol="0" anchor="ctr"/>
          <a:lstStyle/>
          <a:p>
            <a:pPr marL="0" indent="0">
              <a:buNone/>
            </a:pPr>
            <a:r>
              <a:rPr lang="en-US" sz="1300" b="1" kern="0" spc="150" dirty="0">
                <a:solidFill>
                  <a:srgbClr val="4FAEB5"/>
                </a:solidFill>
                <a:latin typeface="Calibri" pitchFamily="34" charset="0"/>
                <a:ea typeface="Calibri" pitchFamily="34" charset="-122"/>
                <a:cs typeface="Calibri" pitchFamily="34" charset="-120"/>
              </a:rPr>
              <a:t>TOOLS, DOCSTRINGS, AND VALIDATION</a:t>
            </a:r>
            <a:endParaRPr lang="en-US" sz="1300" dirty="0"/>
          </a:p>
        </p:txBody>
      </p:sp>
      <p:sp>
        <p:nvSpPr>
          <p:cNvPr id="3" name="Text 1"/>
          <p:cNvSpPr txBox="1"/>
          <p:nvPr/>
        </p:nvSpPr>
        <p:spPr>
          <a:xfrm>
            <a:off x="548640" y="777240"/>
            <a:ext cx="6766560" cy="1371600"/>
          </a:xfrm>
          <a:prstGeom prst="rect">
            <a:avLst/>
          </a:prstGeom>
          <a:noFill/>
          <a:ln/>
        </p:spPr>
        <p:txBody>
          <a:bodyPr wrap="square" lIns="0" tIns="0" rIns="0" bIns="0" rtlCol="0" anchor="ctr"/>
          <a:lstStyle/>
          <a:p>
            <a:pPr marL="0" indent="0">
              <a:lnSpc>
                <a:spcPts val="3200"/>
              </a:lnSpc>
              <a:buNone/>
            </a:pPr>
            <a:r>
              <a:rPr lang="en-US" sz="2700" b="1" dirty="0">
                <a:solidFill>
                  <a:srgbClr val="3B0F10"/>
                </a:solidFill>
                <a:latin typeface="Cambria" pitchFamily="34" charset="0"/>
                <a:ea typeface="Cambria" pitchFamily="34" charset="-122"/>
                <a:cs typeface="Cambria" pitchFamily="34" charset="-120"/>
              </a:rPr>
              <a:t>A tool is a function plus</a:t>
            </a:r>
            <a:endParaRPr lang="en-US" sz="2700" dirty="0"/>
          </a:p>
          <a:p>
            <a:pPr marL="0" indent="0">
              <a:lnSpc>
                <a:spcPts val="3200"/>
              </a:lnSpc>
              <a:buNone/>
            </a:pPr>
            <a:r>
              <a:rPr lang="en-US" sz="2700" b="1" dirty="0">
                <a:solidFill>
                  <a:srgbClr val="3B0F10"/>
                </a:solidFill>
                <a:latin typeface="Cambria" pitchFamily="34" charset="0"/>
                <a:ea typeface="Cambria" pitchFamily="34" charset="-122"/>
                <a:cs typeface="Cambria" pitchFamily="34" charset="-120"/>
              </a:rPr>
              <a:t>a description the model can read</a:t>
            </a:r>
            <a:endParaRPr lang="en-US" sz="2700" dirty="0"/>
          </a:p>
        </p:txBody>
      </p:sp>
      <p:sp>
        <p:nvSpPr>
          <p:cNvPr id="4" name="Text 2"/>
          <p:cNvSpPr txBox="1"/>
          <p:nvPr/>
        </p:nvSpPr>
        <p:spPr>
          <a:xfrm>
            <a:off x="548640" y="2286000"/>
            <a:ext cx="6766560" cy="1737360"/>
          </a:xfrm>
          <a:prstGeom prst="rect">
            <a:avLst/>
          </a:prstGeom>
          <a:noFill/>
          <a:ln/>
        </p:spPr>
        <p:txBody>
          <a:bodyPr wrap="square" lIns="0" tIns="0" rIns="0" bIns="0" rtlCol="0" anchor="ctr"/>
          <a:lstStyle/>
          <a:p>
            <a:pPr marL="0" indent="0">
              <a:lnSpc>
                <a:spcPct val="125000"/>
              </a:lnSpc>
              <a:buNone/>
            </a:pPr>
            <a:r>
              <a:rPr lang="en-US" sz="1500" dirty="0">
                <a:solidFill>
                  <a:srgbClr val="3B0F10"/>
                </a:solidFill>
                <a:latin typeface="Calibri" pitchFamily="34" charset="0"/>
                <a:ea typeface="Calibri" pitchFamily="34" charset="-122"/>
                <a:cs typeface="Calibri" pitchFamily="34" charset="-120"/>
              </a:rPr>
              <a:t>A tool is not simply a Python function — it is a function combined with a machine-readable </a:t>
            </a:r>
            <a:r>
              <a:rPr lang="en-US" sz="1500" b="1" dirty="0">
                <a:solidFill>
                  <a:srgbClr val="4FAEB5"/>
                </a:solidFill>
                <a:latin typeface="Calibri" pitchFamily="34" charset="0"/>
                <a:ea typeface="Calibri" pitchFamily="34" charset="-122"/>
                <a:cs typeface="Calibri" pitchFamily="34" charset="-120"/>
              </a:rPr>
              <a:t>schema</a:t>
            </a:r>
            <a:r>
              <a:rPr lang="en-US" sz="1500" dirty="0">
                <a:solidFill>
                  <a:srgbClr val="3B0F10"/>
                </a:solidFill>
                <a:latin typeface="Calibri" pitchFamily="34" charset="0"/>
                <a:ea typeface="Calibri" pitchFamily="34" charset="-122"/>
                <a:cs typeface="Calibri" pitchFamily="34" charset="-120"/>
              </a:rPr>
              <a:t>: its name, its purpose, and the type and meaning of each parameter. Agno generates this schema directly from the function's </a:t>
            </a:r>
            <a:r>
              <a:rPr lang="en-US" sz="1500" i="1" dirty="0">
                <a:solidFill>
                  <a:srgbClr val="B98D8B"/>
                </a:solidFill>
                <a:latin typeface="Calibri" pitchFamily="34" charset="0"/>
                <a:ea typeface="Calibri" pitchFamily="34" charset="-122"/>
                <a:cs typeface="Calibri" pitchFamily="34" charset="-120"/>
              </a:rPr>
              <a:t>type hints</a:t>
            </a:r>
            <a:r>
              <a:rPr lang="en-US" sz="1500" dirty="0">
                <a:solidFill>
                  <a:srgbClr val="3B0F10"/>
                </a:solidFill>
                <a:latin typeface="Calibri" pitchFamily="34" charset="0"/>
                <a:ea typeface="Calibri" pitchFamily="34" charset="-122"/>
                <a:cs typeface="Calibri" pitchFamily="34" charset="-120"/>
              </a:rPr>
              <a:t> and </a:t>
            </a:r>
            <a:r>
              <a:rPr lang="en-US" sz="1500" i="1" dirty="0">
                <a:solidFill>
                  <a:srgbClr val="B98D8B"/>
                </a:solidFill>
                <a:latin typeface="Calibri" pitchFamily="34" charset="0"/>
                <a:ea typeface="Calibri" pitchFamily="34" charset="-122"/>
                <a:cs typeface="Calibri" pitchFamily="34" charset="-120"/>
              </a:rPr>
              <a:t>docstring</a:t>
            </a:r>
            <a:r>
              <a:rPr lang="en-US" sz="1500" dirty="0">
                <a:solidFill>
                  <a:srgbClr val="3B0F10"/>
                </a:solidFill>
                <a:latin typeface="Calibri" pitchFamily="34" charset="0"/>
                <a:ea typeface="Calibri" pitchFamily="34" charset="-122"/>
                <a:cs typeface="Calibri" pitchFamily="34" charset="-120"/>
              </a:rPr>
              <a:t> — the schema, not the source code, is what the model actually sees.</a:t>
            </a:r>
            <a:endParaRPr lang="en-US" sz="1500" dirty="0"/>
          </a:p>
        </p:txBody>
      </p:sp>
      <p:sp>
        <p:nvSpPr>
          <p:cNvPr id="5" name="Shape 3"/>
          <p:cNvSpPr/>
          <p:nvPr/>
        </p:nvSpPr>
        <p:spPr>
          <a:xfrm>
            <a:off x="548640" y="4160520"/>
            <a:ext cx="6766560" cy="1600200"/>
          </a:xfrm>
          <a:prstGeom prst="roundRect">
            <a:avLst>
              <a:gd name="adj" fmla="val 5714"/>
            </a:avLst>
          </a:prstGeom>
          <a:solidFill>
            <a:srgbClr val="F5E4E0"/>
          </a:solidFill>
          <a:ln w="19050">
            <a:solidFill>
              <a:srgbClr val="4FAEB5"/>
            </a:solidFill>
            <a:prstDash val="solid"/>
          </a:ln>
        </p:spPr>
        <p:txBody>
          <a:bodyPr/>
          <a:lstStyle/>
          <a:p>
            <a:endParaRPr lang="en-US"/>
          </a:p>
        </p:txBody>
      </p:sp>
      <p:sp>
        <p:nvSpPr>
          <p:cNvPr id="6" name="Text 4"/>
          <p:cNvSpPr txBox="1"/>
          <p:nvPr/>
        </p:nvSpPr>
        <p:spPr>
          <a:xfrm>
            <a:off x="822960" y="4297680"/>
            <a:ext cx="6309360" cy="320040"/>
          </a:xfrm>
          <a:prstGeom prst="rect">
            <a:avLst/>
          </a:prstGeom>
          <a:noFill/>
          <a:ln/>
        </p:spPr>
        <p:txBody>
          <a:bodyPr wrap="square" lIns="0" tIns="0" rIns="0" bIns="0" rtlCol="0" anchor="ctr"/>
          <a:lstStyle/>
          <a:p>
            <a:pPr marL="0" indent="0">
              <a:buNone/>
            </a:pPr>
            <a:r>
              <a:rPr lang="en-US" sz="1300" b="1" dirty="0">
                <a:solidFill>
                  <a:srgbClr val="4FAEB5"/>
                </a:solidFill>
                <a:latin typeface="Calibri" pitchFamily="34" charset="0"/>
                <a:ea typeface="Calibri" pitchFamily="34" charset="-122"/>
                <a:cs typeface="Calibri" pitchFamily="34" charset="-120"/>
              </a:rPr>
              <a:t>Validation keeps the loop running</a:t>
            </a:r>
            <a:endParaRPr lang="en-US" sz="1300" dirty="0"/>
          </a:p>
        </p:txBody>
      </p:sp>
      <p:sp>
        <p:nvSpPr>
          <p:cNvPr id="7" name="Text 5"/>
          <p:cNvSpPr txBox="1"/>
          <p:nvPr/>
        </p:nvSpPr>
        <p:spPr>
          <a:xfrm>
            <a:off x="822960" y="4617720"/>
            <a:ext cx="6309360" cy="1051560"/>
          </a:xfrm>
          <a:prstGeom prst="rect">
            <a:avLst/>
          </a:prstGeom>
          <a:noFill/>
          <a:ln/>
        </p:spPr>
        <p:txBody>
          <a:bodyPr wrap="square" lIns="0" tIns="0" rIns="0" bIns="0" rtlCol="0" anchor="ctr"/>
          <a:lstStyle/>
          <a:p>
            <a:pPr marL="0" indent="0">
              <a:buNone/>
            </a:pPr>
            <a:r>
              <a:rPr lang="en-US" sz="1350" b="1" dirty="0">
                <a:solidFill>
                  <a:srgbClr val="3B0F10"/>
                </a:solidFill>
                <a:latin typeface="Courier New" pitchFamily="34" charset="0"/>
                <a:ea typeface="Courier New" pitchFamily="34" charset="-122"/>
                <a:cs typeface="Courier New" pitchFamily="34" charset="-120"/>
              </a:rPr>
              <a:t>RetryAgentRun</a:t>
            </a:r>
            <a:r>
              <a:rPr lang="en-US" sz="1350" dirty="0">
                <a:solidFill>
                  <a:srgbClr val="3B0F10"/>
                </a:solidFill>
              </a:rPr>
              <a:t>  feeds an error back as the tool's result, so the model reasons again and retries with corrected arguments.</a:t>
            </a:r>
            <a:endParaRPr lang="en-US" sz="1350" dirty="0"/>
          </a:p>
          <a:p>
            <a:pPr marL="0" indent="0">
              <a:buNone/>
            </a:pPr>
            <a:r>
              <a:rPr lang="en-US" sz="1350" b="1" dirty="0">
                <a:solidFill>
                  <a:srgbClr val="3B0F10"/>
                </a:solidFill>
                <a:latin typeface="Courier New" pitchFamily="34" charset="0"/>
                <a:ea typeface="Courier New" pitchFamily="34" charset="-122"/>
                <a:cs typeface="Courier New" pitchFamily="34" charset="-120"/>
              </a:rPr>
              <a:t>StopAgentRun</a:t>
            </a:r>
            <a:r>
              <a:rPr lang="en-US" sz="1350" dirty="0">
                <a:solidFill>
                  <a:srgbClr val="3B0F10"/>
                </a:solidFill>
              </a:rPr>
              <a:t>  ends the run cleanly for a request no retry could fix.</a:t>
            </a:r>
            <a:endParaRPr lang="en-US" sz="1350" dirty="0"/>
          </a:p>
        </p:txBody>
      </p:sp>
      <p:sp>
        <p:nvSpPr>
          <p:cNvPr id="8" name="Shape 6"/>
          <p:cNvSpPr/>
          <p:nvPr/>
        </p:nvSpPr>
        <p:spPr>
          <a:xfrm>
            <a:off x="7589520" y="1965960"/>
            <a:ext cx="4023360" cy="3794760"/>
          </a:xfrm>
          <a:prstGeom prst="roundRect">
            <a:avLst>
              <a:gd name="adj" fmla="val 2410"/>
            </a:avLst>
          </a:prstGeom>
          <a:solidFill>
            <a:srgbClr val="1A0304"/>
          </a:solidFill>
          <a:ln/>
        </p:spPr>
        <p:txBody>
          <a:bodyPr/>
          <a:lstStyle/>
          <a:p>
            <a:endParaRPr lang="en-US"/>
          </a:p>
        </p:txBody>
      </p:sp>
      <p:sp>
        <p:nvSpPr>
          <p:cNvPr id="9" name="Text 7"/>
          <p:cNvSpPr txBox="1"/>
          <p:nvPr/>
        </p:nvSpPr>
        <p:spPr>
          <a:xfrm>
            <a:off x="7863840" y="2148840"/>
            <a:ext cx="3474720" cy="320040"/>
          </a:xfrm>
          <a:prstGeom prst="rect">
            <a:avLst/>
          </a:prstGeom>
          <a:noFill/>
          <a:ln/>
        </p:spPr>
        <p:txBody>
          <a:bodyPr wrap="square" lIns="0" tIns="0" rIns="0" bIns="0" rtlCol="0" anchor="ctr"/>
          <a:lstStyle/>
          <a:p>
            <a:pPr marL="0" indent="0">
              <a:buNone/>
            </a:pPr>
            <a:r>
              <a:rPr lang="en-US" sz="1100" b="1" kern="0" spc="120" dirty="0">
                <a:solidFill>
                  <a:srgbClr val="8FDEE3"/>
                </a:solidFill>
                <a:latin typeface="Calibri" pitchFamily="34" charset="0"/>
                <a:ea typeface="Calibri" pitchFamily="34" charset="-122"/>
                <a:cs typeface="Calibri" pitchFamily="34" charset="-120"/>
              </a:rPr>
              <a:t>GENERATED SCHEMA</a:t>
            </a:r>
            <a:endParaRPr lang="en-US" sz="1100" dirty="0"/>
          </a:p>
        </p:txBody>
      </p:sp>
      <p:sp>
        <p:nvSpPr>
          <p:cNvPr id="10" name="Text 8"/>
          <p:cNvSpPr txBox="1"/>
          <p:nvPr/>
        </p:nvSpPr>
        <p:spPr>
          <a:xfrm>
            <a:off x="7863840" y="2514600"/>
            <a:ext cx="3474720" cy="3108960"/>
          </a:xfrm>
          <a:prstGeom prst="rect">
            <a:avLst/>
          </a:prstGeom>
          <a:noFill/>
          <a:ln/>
        </p:spPr>
        <p:txBody>
          <a:bodyPr wrap="square" lIns="0" tIns="0" rIns="0" bIns="0" rtlCol="0" anchor="t"/>
          <a:lstStyle/>
          <a:p>
            <a:pPr marL="0" indent="0">
              <a:buNone/>
            </a:pPr>
            <a:r>
              <a:rPr lang="en-US" sz="1150" dirty="0">
                <a:solidFill>
                  <a:schemeClr val="accent5">
                    <a:lumMod val="60000"/>
                    <a:lumOff val="40000"/>
                  </a:schemeClr>
                </a:solidFill>
                <a:latin typeface="Courier New" pitchFamily="34" charset="0"/>
                <a:ea typeface="Courier New" pitchFamily="34" charset="-122"/>
                <a:cs typeface="Courier New" pitchFamily="34" charset="-120"/>
              </a:rPr>
              <a:t>{
  </a:t>
            </a:r>
            <a:r>
              <a:rPr lang="en-US" sz="1150" dirty="0">
                <a:solidFill>
                  <a:srgbClr val="8FDEE3"/>
                </a:solidFill>
                <a:latin typeface="Courier New" pitchFamily="34" charset="0"/>
                <a:ea typeface="Courier New" pitchFamily="34" charset="-122"/>
                <a:cs typeface="Courier New" pitchFamily="34" charset="-120"/>
              </a:rPr>
              <a:t>"name": "convert_nominal_
            to_effective",
  "parameters": {
    "nominal_rate":
      { "type": "number" },
    "m":
      { "type": "integer" }
  }</a:t>
            </a:r>
            <a:endParaRPr lang="en-US" sz="1150" dirty="0"/>
          </a:p>
          <a:p>
            <a:pPr marL="0" indent="0">
              <a:buNone/>
            </a:pPr>
            <a:r>
              <a:rPr lang="en-US" sz="1150" dirty="0">
                <a:solidFill>
                  <a:srgbClr val="8FDEE3"/>
                </a:solidFill>
                <a:latin typeface="Courier New" pitchFamily="34" charset="0"/>
                <a:ea typeface="Courier New" pitchFamily="34" charset="-122"/>
                <a:cs typeface="Courier New" pitchFamily="34" charset="-120"/>
              </a:rPr>
              <a:t>}</a:t>
            </a:r>
            <a:endParaRPr lang="en-US" sz="1150" dirty="0"/>
          </a:p>
        </p:txBody>
      </p:sp>
      <p:sp>
        <p:nvSpPr>
          <p:cNvPr id="11" name="Text 9"/>
          <p:cNvSpPr txBox="1"/>
          <p:nvPr/>
        </p:nvSpPr>
        <p:spPr>
          <a:xfrm>
            <a:off x="7589520" y="6510528"/>
            <a:ext cx="4114800" cy="274320"/>
          </a:xfrm>
          <a:prstGeom prst="rect">
            <a:avLst/>
          </a:prstGeom>
          <a:noFill/>
          <a:ln/>
        </p:spPr>
        <p:txBody>
          <a:bodyPr wrap="square" lIns="0" tIns="0" rIns="0" bIns="0" rtlCol="0" anchor="ctr"/>
          <a:lstStyle/>
          <a:p>
            <a:pPr marL="0" indent="0" algn="r">
              <a:buNone/>
            </a:pPr>
            <a:r>
              <a:rPr lang="en-US" sz="1000" dirty="0">
                <a:solidFill>
                  <a:srgbClr val="B98D8B"/>
                </a:solidFill>
                <a:latin typeface="Calibri" pitchFamily="34" charset="0"/>
                <a:ea typeface="Calibri" pitchFamily="34" charset="-122"/>
                <a:cs typeface="Calibri" pitchFamily="34" charset="-120"/>
              </a:rPr>
              <a:t>From Exam Question to Autonomous Agent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365760"/>
          </a:xfrm>
          <a:prstGeom prst="rect">
            <a:avLst/>
          </a:prstGeom>
          <a:noFill/>
          <a:ln/>
        </p:spPr>
        <p:txBody>
          <a:bodyPr wrap="square" lIns="0" tIns="0" rIns="0" bIns="0" rtlCol="0" anchor="ctr"/>
          <a:lstStyle/>
          <a:p>
            <a:pPr marL="0" indent="0">
              <a:buNone/>
            </a:pPr>
            <a:r>
              <a:rPr lang="en-US" sz="1300" b="1" kern="0" spc="150" dirty="0">
                <a:solidFill>
                  <a:srgbClr val="4FAEB5"/>
                </a:solidFill>
                <a:latin typeface="Calibri" pitchFamily="34" charset="0"/>
                <a:ea typeface="Calibri" pitchFamily="34" charset="-122"/>
                <a:cs typeface="Calibri" pitchFamily="34" charset="-120"/>
              </a:rPr>
              <a:t>THE AGENT LOOP</a:t>
            </a:r>
            <a:endParaRPr lang="en-US" sz="1300" dirty="0"/>
          </a:p>
        </p:txBody>
      </p:sp>
      <p:sp>
        <p:nvSpPr>
          <p:cNvPr id="3" name="Text 1"/>
          <p:cNvSpPr txBox="1"/>
          <p:nvPr/>
        </p:nvSpPr>
        <p:spPr>
          <a:xfrm>
            <a:off x="548640" y="777240"/>
            <a:ext cx="10972800" cy="731520"/>
          </a:xfrm>
          <a:prstGeom prst="rect">
            <a:avLst/>
          </a:prstGeom>
          <a:noFill/>
          <a:ln/>
        </p:spPr>
        <p:txBody>
          <a:bodyPr wrap="square" lIns="0" tIns="0" rIns="0" bIns="0" rtlCol="0" anchor="ctr"/>
          <a:lstStyle/>
          <a:p>
            <a:pPr marL="0" indent="0">
              <a:buNone/>
            </a:pPr>
            <a:r>
              <a:rPr lang="en-US" sz="3000" b="1" dirty="0">
                <a:solidFill>
                  <a:srgbClr val="3B0F10"/>
                </a:solidFill>
                <a:latin typeface="Cambria" pitchFamily="34" charset="0"/>
                <a:ea typeface="Cambria" pitchFamily="34" charset="-122"/>
                <a:cs typeface="Cambria" pitchFamily="34" charset="-120"/>
              </a:rPr>
              <a:t>Reason → Act → Observe → Repeat</a:t>
            </a:r>
            <a:endParaRPr lang="en-US" sz="3000" dirty="0"/>
          </a:p>
        </p:txBody>
      </p:sp>
      <p:sp>
        <p:nvSpPr>
          <p:cNvPr id="4" name="Shape 2"/>
          <p:cNvSpPr/>
          <p:nvPr/>
        </p:nvSpPr>
        <p:spPr>
          <a:xfrm>
            <a:off x="640080" y="2011680"/>
            <a:ext cx="2148840" cy="1005840"/>
          </a:xfrm>
          <a:prstGeom prst="roundRect">
            <a:avLst>
              <a:gd name="adj" fmla="val 10909"/>
            </a:avLst>
          </a:prstGeom>
          <a:solidFill>
            <a:srgbClr val="4FAEB5"/>
          </a:solidFill>
          <a:ln/>
        </p:spPr>
        <p:txBody>
          <a:bodyPr/>
          <a:lstStyle/>
          <a:p>
            <a:endParaRPr lang="en-US"/>
          </a:p>
        </p:txBody>
      </p:sp>
      <p:sp>
        <p:nvSpPr>
          <p:cNvPr id="5" name="Text 3"/>
          <p:cNvSpPr txBox="1"/>
          <p:nvPr/>
        </p:nvSpPr>
        <p:spPr>
          <a:xfrm>
            <a:off x="640080" y="2011680"/>
            <a:ext cx="2148840" cy="1005840"/>
          </a:xfrm>
          <a:prstGeom prst="rect">
            <a:avLst/>
          </a:prstGeom>
          <a:noFill/>
          <a:ln/>
        </p:spPr>
        <p:txBody>
          <a:bodyPr wrap="square" lIns="0" tIns="0" rIns="0" bIns="0" rtlCol="0" anchor="ctr"/>
          <a:lstStyle/>
          <a:p>
            <a:pPr marL="0" indent="0" algn="ctr">
              <a:buNone/>
            </a:pPr>
            <a:r>
              <a:rPr lang="en-US" sz="1500" b="1" dirty="0">
                <a:solidFill>
                  <a:srgbClr val="F5EDEA"/>
                </a:solidFill>
                <a:latin typeface="Calibri" pitchFamily="34" charset="0"/>
                <a:ea typeface="Calibri" pitchFamily="34" charset="-122"/>
                <a:cs typeface="Calibri" pitchFamily="34" charset="-120"/>
              </a:rPr>
              <a:t>Reason</a:t>
            </a:r>
            <a:endParaRPr lang="en-US" sz="1500" dirty="0"/>
          </a:p>
        </p:txBody>
      </p:sp>
      <p:sp>
        <p:nvSpPr>
          <p:cNvPr id="6" name="Shape 4"/>
          <p:cNvSpPr/>
          <p:nvPr/>
        </p:nvSpPr>
        <p:spPr>
          <a:xfrm>
            <a:off x="2788920" y="2514600"/>
            <a:ext cx="320040" cy="0"/>
          </a:xfrm>
          <a:prstGeom prst="line">
            <a:avLst/>
          </a:prstGeom>
          <a:noFill/>
          <a:ln w="25400">
            <a:solidFill>
              <a:srgbClr val="B98D8B"/>
            </a:solidFill>
            <a:prstDash val="solid"/>
            <a:tailEnd type="triangle"/>
          </a:ln>
        </p:spPr>
        <p:txBody>
          <a:bodyPr/>
          <a:lstStyle/>
          <a:p>
            <a:endParaRPr lang="en-US"/>
          </a:p>
        </p:txBody>
      </p:sp>
      <p:sp>
        <p:nvSpPr>
          <p:cNvPr id="7" name="Shape 5"/>
          <p:cNvSpPr/>
          <p:nvPr/>
        </p:nvSpPr>
        <p:spPr>
          <a:xfrm>
            <a:off x="3108960" y="2011680"/>
            <a:ext cx="2148840" cy="1005840"/>
          </a:xfrm>
          <a:prstGeom prst="roundRect">
            <a:avLst>
              <a:gd name="adj" fmla="val 10909"/>
            </a:avLst>
          </a:prstGeom>
          <a:solidFill>
            <a:srgbClr val="F0A050"/>
          </a:solidFill>
          <a:ln/>
        </p:spPr>
        <p:txBody>
          <a:bodyPr/>
          <a:lstStyle/>
          <a:p>
            <a:endParaRPr lang="en-US"/>
          </a:p>
        </p:txBody>
      </p:sp>
      <p:sp>
        <p:nvSpPr>
          <p:cNvPr id="8" name="Text 6"/>
          <p:cNvSpPr txBox="1"/>
          <p:nvPr/>
        </p:nvSpPr>
        <p:spPr>
          <a:xfrm>
            <a:off x="3108960" y="2011680"/>
            <a:ext cx="2148840" cy="1005840"/>
          </a:xfrm>
          <a:prstGeom prst="rect">
            <a:avLst/>
          </a:prstGeom>
          <a:noFill/>
          <a:ln/>
        </p:spPr>
        <p:txBody>
          <a:bodyPr wrap="square" lIns="0" tIns="0" rIns="0" bIns="0" rtlCol="0" anchor="ctr"/>
          <a:lstStyle/>
          <a:p>
            <a:pPr marL="0" indent="0" algn="ctr">
              <a:buNone/>
            </a:pPr>
            <a:r>
              <a:rPr lang="en-US" sz="1500" b="1" dirty="0">
                <a:solidFill>
                  <a:srgbClr val="F5EDEA"/>
                </a:solidFill>
                <a:latin typeface="Calibri" pitchFamily="34" charset="0"/>
                <a:ea typeface="Calibri" pitchFamily="34" charset="-122"/>
                <a:cs typeface="Calibri" pitchFamily="34" charset="-120"/>
              </a:rPr>
              <a:t>Act (use Tools)</a:t>
            </a:r>
            <a:endParaRPr lang="en-US" sz="1500" dirty="0"/>
          </a:p>
        </p:txBody>
      </p:sp>
      <p:sp>
        <p:nvSpPr>
          <p:cNvPr id="9" name="Shape 7"/>
          <p:cNvSpPr/>
          <p:nvPr/>
        </p:nvSpPr>
        <p:spPr>
          <a:xfrm>
            <a:off x="5257800" y="2514600"/>
            <a:ext cx="320040" cy="0"/>
          </a:xfrm>
          <a:prstGeom prst="line">
            <a:avLst/>
          </a:prstGeom>
          <a:noFill/>
          <a:ln w="25400">
            <a:solidFill>
              <a:srgbClr val="B98D8B"/>
            </a:solidFill>
            <a:prstDash val="solid"/>
            <a:tailEnd type="triangle"/>
          </a:ln>
        </p:spPr>
        <p:txBody>
          <a:bodyPr/>
          <a:lstStyle/>
          <a:p>
            <a:endParaRPr lang="en-US"/>
          </a:p>
        </p:txBody>
      </p:sp>
      <p:sp>
        <p:nvSpPr>
          <p:cNvPr id="10" name="Shape 8"/>
          <p:cNvSpPr/>
          <p:nvPr/>
        </p:nvSpPr>
        <p:spPr>
          <a:xfrm>
            <a:off x="5577840" y="2011680"/>
            <a:ext cx="2148840" cy="1005840"/>
          </a:xfrm>
          <a:prstGeom prst="roundRect">
            <a:avLst>
              <a:gd name="adj" fmla="val 10909"/>
            </a:avLst>
          </a:prstGeom>
          <a:solidFill>
            <a:srgbClr val="4FAEB5"/>
          </a:solidFill>
          <a:ln/>
        </p:spPr>
        <p:txBody>
          <a:bodyPr/>
          <a:lstStyle/>
          <a:p>
            <a:endParaRPr lang="en-US"/>
          </a:p>
        </p:txBody>
      </p:sp>
      <p:sp>
        <p:nvSpPr>
          <p:cNvPr id="11" name="Text 9"/>
          <p:cNvSpPr txBox="1"/>
          <p:nvPr/>
        </p:nvSpPr>
        <p:spPr>
          <a:xfrm>
            <a:off x="5577840" y="2011680"/>
            <a:ext cx="2148840" cy="1005840"/>
          </a:xfrm>
          <a:prstGeom prst="rect">
            <a:avLst/>
          </a:prstGeom>
          <a:noFill/>
          <a:ln/>
        </p:spPr>
        <p:txBody>
          <a:bodyPr wrap="square" lIns="0" tIns="0" rIns="0" bIns="0" rtlCol="0" anchor="ctr"/>
          <a:lstStyle/>
          <a:p>
            <a:pPr marL="0" indent="0" algn="ctr">
              <a:buNone/>
            </a:pPr>
            <a:r>
              <a:rPr lang="en-US" sz="1500" b="1" dirty="0">
                <a:solidFill>
                  <a:srgbClr val="F5EDEA"/>
                </a:solidFill>
                <a:latin typeface="Calibri" pitchFamily="34" charset="0"/>
                <a:ea typeface="Calibri" pitchFamily="34" charset="-122"/>
                <a:cs typeface="Calibri" pitchFamily="34" charset="-120"/>
              </a:rPr>
              <a:t>Observe</a:t>
            </a:r>
            <a:endParaRPr lang="en-US" sz="1500" dirty="0"/>
          </a:p>
        </p:txBody>
      </p:sp>
      <p:sp>
        <p:nvSpPr>
          <p:cNvPr id="12" name="Shape 10"/>
          <p:cNvSpPr/>
          <p:nvPr/>
        </p:nvSpPr>
        <p:spPr>
          <a:xfrm>
            <a:off x="7726680" y="2514600"/>
            <a:ext cx="320040" cy="0"/>
          </a:xfrm>
          <a:prstGeom prst="line">
            <a:avLst/>
          </a:prstGeom>
          <a:noFill/>
          <a:ln w="25400">
            <a:solidFill>
              <a:srgbClr val="B98D8B"/>
            </a:solidFill>
            <a:prstDash val="solid"/>
            <a:tailEnd type="triangle"/>
          </a:ln>
        </p:spPr>
        <p:txBody>
          <a:bodyPr/>
          <a:lstStyle/>
          <a:p>
            <a:endParaRPr lang="en-US"/>
          </a:p>
        </p:txBody>
      </p:sp>
      <p:sp>
        <p:nvSpPr>
          <p:cNvPr id="13" name="Shape 11"/>
          <p:cNvSpPr/>
          <p:nvPr/>
        </p:nvSpPr>
        <p:spPr>
          <a:xfrm>
            <a:off x="8046720" y="2011680"/>
            <a:ext cx="2148840" cy="1005840"/>
          </a:xfrm>
          <a:prstGeom prst="roundRect">
            <a:avLst>
              <a:gd name="adj" fmla="val 10909"/>
            </a:avLst>
          </a:prstGeom>
          <a:solidFill>
            <a:srgbClr val="3B0F10"/>
          </a:solidFill>
          <a:ln/>
        </p:spPr>
        <p:txBody>
          <a:bodyPr/>
          <a:lstStyle/>
          <a:p>
            <a:endParaRPr lang="en-US"/>
          </a:p>
        </p:txBody>
      </p:sp>
      <p:sp>
        <p:nvSpPr>
          <p:cNvPr id="14" name="Text 12"/>
          <p:cNvSpPr txBox="1"/>
          <p:nvPr/>
        </p:nvSpPr>
        <p:spPr>
          <a:xfrm>
            <a:off x="8046720" y="2011680"/>
            <a:ext cx="2148840" cy="1005840"/>
          </a:xfrm>
          <a:prstGeom prst="rect">
            <a:avLst/>
          </a:prstGeom>
          <a:noFill/>
          <a:ln/>
        </p:spPr>
        <p:txBody>
          <a:bodyPr wrap="square" lIns="0" tIns="0" rIns="0" bIns="0" rtlCol="0" anchor="ctr"/>
          <a:lstStyle/>
          <a:p>
            <a:pPr marL="0" indent="0" algn="ctr">
              <a:buNone/>
            </a:pPr>
            <a:r>
              <a:rPr lang="en-US" sz="1500" b="1" dirty="0">
                <a:solidFill>
                  <a:srgbClr val="F5EDEA"/>
                </a:solidFill>
                <a:latin typeface="Calibri" pitchFamily="34" charset="0"/>
                <a:ea typeface="Calibri" pitchFamily="34" charset="-122"/>
                <a:cs typeface="Calibri" pitchFamily="34" charset="-120"/>
              </a:rPr>
              <a:t>Final</a:t>
            </a:r>
            <a:endParaRPr lang="en-US" sz="1500" dirty="0"/>
          </a:p>
          <a:p>
            <a:pPr marL="0" indent="0" algn="ctr">
              <a:buNone/>
            </a:pPr>
            <a:r>
              <a:rPr lang="en-US" sz="1500" b="1" dirty="0">
                <a:solidFill>
                  <a:srgbClr val="F5EDEA"/>
                </a:solidFill>
                <a:latin typeface="Calibri" pitchFamily="34" charset="0"/>
                <a:ea typeface="Calibri" pitchFamily="34" charset="-122"/>
                <a:cs typeface="Calibri" pitchFamily="34" charset="-120"/>
              </a:rPr>
              <a:t>Response</a:t>
            </a:r>
            <a:endParaRPr lang="en-US" sz="1500" dirty="0"/>
          </a:p>
        </p:txBody>
      </p:sp>
      <p:sp>
        <p:nvSpPr>
          <p:cNvPr id="15" name="Shape 13"/>
          <p:cNvSpPr/>
          <p:nvPr/>
        </p:nvSpPr>
        <p:spPr>
          <a:xfrm>
            <a:off x="1714500" y="3154680"/>
            <a:ext cx="4937760" cy="0"/>
          </a:xfrm>
          <a:prstGeom prst="line">
            <a:avLst/>
          </a:prstGeom>
          <a:noFill/>
          <a:ln w="19050">
            <a:solidFill>
              <a:srgbClr val="B98D8B"/>
            </a:solidFill>
            <a:prstDash val="dash"/>
            <a:headEnd type="triangle"/>
          </a:ln>
        </p:spPr>
        <p:txBody>
          <a:bodyPr/>
          <a:lstStyle/>
          <a:p>
            <a:endParaRPr lang="en-US"/>
          </a:p>
        </p:txBody>
      </p:sp>
      <p:sp>
        <p:nvSpPr>
          <p:cNvPr id="16" name="Text 14"/>
          <p:cNvSpPr txBox="1"/>
          <p:nvPr/>
        </p:nvSpPr>
        <p:spPr>
          <a:xfrm>
            <a:off x="1714500" y="3246120"/>
            <a:ext cx="4937760" cy="320040"/>
          </a:xfrm>
          <a:prstGeom prst="rect">
            <a:avLst/>
          </a:prstGeom>
          <a:noFill/>
          <a:ln/>
        </p:spPr>
        <p:txBody>
          <a:bodyPr wrap="square" lIns="0" tIns="0" rIns="0" bIns="0" rtlCol="0" anchor="ctr"/>
          <a:lstStyle/>
          <a:p>
            <a:pPr marL="0" indent="0" algn="ctr">
              <a:buNone/>
            </a:pPr>
            <a:r>
              <a:rPr lang="en-US" sz="1100" i="1" dirty="0">
                <a:solidFill>
                  <a:srgbClr val="B98D8B"/>
                </a:solidFill>
                <a:latin typeface="Calibri" pitchFamily="34" charset="0"/>
                <a:ea typeface="Calibri" pitchFamily="34" charset="-122"/>
                <a:cs typeface="Calibri" pitchFamily="34" charset="-120"/>
              </a:rPr>
              <a:t>repeats as many times as the request requires</a:t>
            </a:r>
            <a:endParaRPr lang="en-US" sz="1100" dirty="0"/>
          </a:p>
        </p:txBody>
      </p:sp>
      <p:sp>
        <p:nvSpPr>
          <p:cNvPr id="17" name="Shape 15"/>
          <p:cNvSpPr/>
          <p:nvPr/>
        </p:nvSpPr>
        <p:spPr>
          <a:xfrm>
            <a:off x="548640" y="3977640"/>
            <a:ext cx="11064240" cy="2011680"/>
          </a:xfrm>
          <a:prstGeom prst="roundRect">
            <a:avLst>
              <a:gd name="adj" fmla="val 4545"/>
            </a:avLst>
          </a:prstGeom>
          <a:solidFill>
            <a:srgbClr val="F5E4E0"/>
          </a:solidFill>
          <a:ln/>
        </p:spPr>
        <p:txBody>
          <a:bodyPr/>
          <a:lstStyle/>
          <a:p>
            <a:endParaRPr lang="en-US"/>
          </a:p>
        </p:txBody>
      </p:sp>
      <p:sp>
        <p:nvSpPr>
          <p:cNvPr id="18" name="Text 16"/>
          <p:cNvSpPr txBox="1"/>
          <p:nvPr/>
        </p:nvSpPr>
        <p:spPr>
          <a:xfrm>
            <a:off x="822960" y="4160520"/>
            <a:ext cx="10515600" cy="320040"/>
          </a:xfrm>
          <a:prstGeom prst="rect">
            <a:avLst/>
          </a:prstGeom>
          <a:noFill/>
          <a:ln/>
        </p:spPr>
        <p:txBody>
          <a:bodyPr wrap="square" lIns="0" tIns="0" rIns="0" bIns="0" rtlCol="0" anchor="ctr"/>
          <a:lstStyle/>
          <a:p>
            <a:pPr marL="0" indent="0">
              <a:buNone/>
            </a:pPr>
            <a:r>
              <a:rPr lang="en-US" sz="1300" b="1" dirty="0">
                <a:solidFill>
                  <a:srgbClr val="4FAEB5"/>
                </a:solidFill>
                <a:latin typeface="Calibri" pitchFamily="34" charset="0"/>
                <a:ea typeface="Calibri" pitchFamily="34" charset="-122"/>
                <a:cs typeface="Calibri" pitchFamily="34" charset="-120"/>
              </a:rPr>
              <a:t>Worked example — before any Financial Mathematics content</a:t>
            </a:r>
            <a:endParaRPr lang="en-US" sz="1300" dirty="0"/>
          </a:p>
        </p:txBody>
      </p:sp>
      <p:sp>
        <p:nvSpPr>
          <p:cNvPr id="19" name="Text 17"/>
          <p:cNvSpPr txBox="1"/>
          <p:nvPr/>
        </p:nvSpPr>
        <p:spPr>
          <a:xfrm>
            <a:off x="822960" y="4526280"/>
            <a:ext cx="10515600" cy="1371600"/>
          </a:xfrm>
          <a:prstGeom prst="rect">
            <a:avLst/>
          </a:prstGeom>
          <a:noFill/>
          <a:ln/>
        </p:spPr>
        <p:txBody>
          <a:bodyPr wrap="square" lIns="0" tIns="0" rIns="0" bIns="0" rtlCol="0" anchor="ctr"/>
          <a:lstStyle/>
          <a:p>
            <a:pPr marL="0" indent="0">
              <a:spcAft>
                <a:spcPts val="800"/>
              </a:spcAft>
              <a:buNone/>
            </a:pPr>
            <a:r>
              <a:rPr lang="en-US" sz="1500" b="1" dirty="0">
                <a:solidFill>
                  <a:srgbClr val="3B0F10"/>
                </a:solidFill>
              </a:rPr>
              <a:t>A user has $340 and asks: take 15% of it, then take 8% of that result.</a:t>
            </a:r>
            <a:endParaRPr lang="en-US" sz="1500" dirty="0"/>
          </a:p>
          <a:p>
            <a:pPr marL="0" indent="0">
              <a:buNone/>
            </a:pPr>
            <a:r>
              <a:rPr lang="en-US" sz="1450" dirty="0">
                <a:solidFill>
                  <a:srgbClr val="3B0F10"/>
                </a:solidFill>
              </a:rPr>
              <a:t>Call 1:  15% × $340 = </a:t>
            </a:r>
            <a:r>
              <a:rPr lang="en-US" sz="1450" b="1" dirty="0">
                <a:solidFill>
                  <a:srgbClr val="4FAEB5"/>
                </a:solidFill>
              </a:rPr>
              <a:t>$51.00</a:t>
            </a:r>
            <a:endParaRPr lang="en-US" sz="1500" dirty="0"/>
          </a:p>
          <a:p>
            <a:pPr marL="0" indent="0">
              <a:buNone/>
            </a:pPr>
            <a:r>
              <a:rPr lang="en-US" sz="1450" dirty="0">
                <a:solidFill>
                  <a:srgbClr val="3B0F10"/>
                </a:solidFill>
              </a:rPr>
              <a:t>Call 2:  8% × $51.00 = </a:t>
            </a:r>
            <a:r>
              <a:rPr lang="en-US" sz="1450" b="1" dirty="0">
                <a:solidFill>
                  <a:srgbClr val="4FAEB5"/>
                </a:solidFill>
              </a:rPr>
              <a:t>$4.08</a:t>
            </a:r>
            <a:endParaRPr lang="en-US" sz="1500" dirty="0"/>
          </a:p>
        </p:txBody>
      </p:sp>
      <p:sp>
        <p:nvSpPr>
          <p:cNvPr id="20" name="Text 18"/>
          <p:cNvSpPr txBox="1"/>
          <p:nvPr/>
        </p:nvSpPr>
        <p:spPr>
          <a:xfrm>
            <a:off x="6035040" y="4709160"/>
            <a:ext cx="5303520" cy="1097280"/>
          </a:xfrm>
          <a:prstGeom prst="rect">
            <a:avLst/>
          </a:prstGeom>
          <a:noFill/>
          <a:ln/>
        </p:spPr>
        <p:txBody>
          <a:bodyPr wrap="square" lIns="0" tIns="0" rIns="0" bIns="0" rtlCol="0" anchor="ctr"/>
          <a:lstStyle/>
          <a:p>
            <a:pPr marL="0" indent="0">
              <a:buNone/>
            </a:pPr>
            <a:r>
              <a:rPr lang="en-US" sz="1250" i="1" dirty="0">
                <a:solidFill>
                  <a:srgbClr val="B98D8B"/>
                </a:solidFill>
                <a:latin typeface="Calibri" pitchFamily="34" charset="0"/>
                <a:ea typeface="Calibri" pitchFamily="34" charset="-122"/>
                <a:cs typeface="Calibri" pitchFamily="34" charset="-120"/>
              </a:rPr>
              <a:t>The second call's argument depends on the first call's result — the one thing a single request–response prompt cannot do.</a:t>
            </a:r>
            <a:endParaRPr lang="en-US" sz="1250" dirty="0"/>
          </a:p>
        </p:txBody>
      </p:sp>
      <p:sp>
        <p:nvSpPr>
          <p:cNvPr id="21" name="Text 19"/>
          <p:cNvSpPr txBox="1"/>
          <p:nvPr/>
        </p:nvSpPr>
        <p:spPr>
          <a:xfrm>
            <a:off x="7589520" y="6510528"/>
            <a:ext cx="4114800" cy="274320"/>
          </a:xfrm>
          <a:prstGeom prst="rect">
            <a:avLst/>
          </a:prstGeom>
          <a:noFill/>
          <a:ln/>
        </p:spPr>
        <p:txBody>
          <a:bodyPr wrap="square" lIns="0" tIns="0" rIns="0" bIns="0" rtlCol="0" anchor="ctr"/>
          <a:lstStyle/>
          <a:p>
            <a:pPr marL="0" indent="0" algn="r">
              <a:buNone/>
            </a:pPr>
            <a:r>
              <a:rPr lang="en-US" sz="1000" dirty="0">
                <a:solidFill>
                  <a:srgbClr val="B98D8B"/>
                </a:solidFill>
                <a:latin typeface="Calibri" pitchFamily="34" charset="0"/>
                <a:ea typeface="Calibri" pitchFamily="34" charset="-122"/>
                <a:cs typeface="Calibri" pitchFamily="34" charset="-120"/>
              </a:rPr>
              <a:t>From Exam Question to Autonomous Agent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D0607"/>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150" dirty="0">
                <a:solidFill>
                  <a:srgbClr val="8FDEE3"/>
                </a:solidFill>
                <a:latin typeface="Calibri" pitchFamily="34" charset="0"/>
                <a:ea typeface="Calibri" pitchFamily="34" charset="-122"/>
                <a:cs typeface="Calibri" pitchFamily="34" charset="-120"/>
              </a:rPr>
              <a:t>LIVE DEMO</a:t>
            </a:r>
            <a:endParaRPr lang="en-US" sz="1300" dirty="0"/>
          </a:p>
        </p:txBody>
      </p:sp>
      <p:sp>
        <p:nvSpPr>
          <p:cNvPr id="3" name="Text 1"/>
          <p:cNvSpPr txBox="1"/>
          <p:nvPr/>
        </p:nvSpPr>
        <p:spPr>
          <a:xfrm>
            <a:off x="548640" y="822960"/>
            <a:ext cx="10972800" cy="731520"/>
          </a:xfrm>
          <a:prstGeom prst="rect">
            <a:avLst/>
          </a:prstGeom>
          <a:noFill/>
          <a:ln/>
        </p:spPr>
        <p:txBody>
          <a:bodyPr wrap="square" lIns="0" tIns="0" rIns="0" bIns="0" rtlCol="0" anchor="ctr"/>
          <a:lstStyle/>
          <a:p>
            <a:pPr marL="0" indent="0">
              <a:buNone/>
            </a:pPr>
            <a:r>
              <a:rPr lang="en-US" sz="3000" b="1" dirty="0">
                <a:solidFill>
                  <a:srgbClr val="F5EDEA"/>
                </a:solidFill>
                <a:latin typeface="Cambria" pitchFamily="34" charset="0"/>
                <a:ea typeface="Cambria" pitchFamily="34" charset="-122"/>
                <a:cs typeface="Cambria" pitchFamily="34" charset="-120"/>
              </a:rPr>
              <a:t>The Rate Conversion Agent</a:t>
            </a:r>
            <a:endParaRPr lang="en-US" sz="3000" dirty="0"/>
          </a:p>
        </p:txBody>
      </p:sp>
      <p:sp>
        <p:nvSpPr>
          <p:cNvPr id="4" name="Text 2"/>
          <p:cNvSpPr txBox="1"/>
          <p:nvPr/>
        </p:nvSpPr>
        <p:spPr>
          <a:xfrm>
            <a:off x="548640" y="1417320"/>
            <a:ext cx="10972800" cy="365760"/>
          </a:xfrm>
          <a:prstGeom prst="rect">
            <a:avLst/>
          </a:prstGeom>
          <a:noFill/>
          <a:ln/>
        </p:spPr>
        <p:txBody>
          <a:bodyPr wrap="square" lIns="0" tIns="0" rIns="0" bIns="0" rtlCol="0" anchor="ctr"/>
          <a:lstStyle/>
          <a:p>
            <a:pPr marL="0" indent="0">
              <a:buNone/>
            </a:pPr>
            <a:r>
              <a:rPr lang="en-US" sz="1400" i="1" dirty="0">
                <a:solidFill>
                  <a:srgbClr val="8FDEE3"/>
                </a:solidFill>
                <a:latin typeface="Calibri" pitchFamily="34" charset="0"/>
                <a:ea typeface="Calibri" pitchFamily="34" charset="-122"/>
                <a:cs typeface="Calibri" pitchFamily="34" charset="-120"/>
              </a:rPr>
              <a:t>Fastest of the four notebooks to demonstrate live — Notebook 1</a:t>
            </a:r>
            <a:endParaRPr lang="en-US" sz="1400" dirty="0"/>
          </a:p>
        </p:txBody>
      </p:sp>
      <p:sp>
        <p:nvSpPr>
          <p:cNvPr id="5" name="Shape 3"/>
          <p:cNvSpPr/>
          <p:nvPr/>
        </p:nvSpPr>
        <p:spPr>
          <a:xfrm>
            <a:off x="548640" y="1965960"/>
            <a:ext cx="5394960" cy="4114800"/>
          </a:xfrm>
          <a:prstGeom prst="roundRect">
            <a:avLst>
              <a:gd name="adj" fmla="val 2222"/>
            </a:avLst>
          </a:prstGeom>
          <a:solidFill>
            <a:srgbClr val="471113"/>
          </a:solidFill>
          <a:ln/>
        </p:spPr>
        <p:txBody>
          <a:bodyPr/>
          <a:lstStyle/>
          <a:p>
            <a:endParaRPr lang="en-US"/>
          </a:p>
        </p:txBody>
      </p:sp>
      <p:sp>
        <p:nvSpPr>
          <p:cNvPr id="6" name="Text 4"/>
          <p:cNvSpPr txBox="1"/>
          <p:nvPr/>
        </p:nvSpPr>
        <p:spPr>
          <a:xfrm>
            <a:off x="868680" y="2194560"/>
            <a:ext cx="4754880" cy="320040"/>
          </a:xfrm>
          <a:prstGeom prst="rect">
            <a:avLst/>
          </a:prstGeom>
          <a:noFill/>
          <a:ln/>
        </p:spPr>
        <p:txBody>
          <a:bodyPr wrap="square" lIns="0" tIns="0" rIns="0" bIns="0" rtlCol="0" anchor="ctr"/>
          <a:lstStyle/>
          <a:p>
            <a:pPr marL="0" indent="0">
              <a:buNone/>
            </a:pPr>
            <a:r>
              <a:rPr lang="en-US" sz="1200" b="1" kern="0" spc="120" dirty="0">
                <a:solidFill>
                  <a:srgbClr val="8FDEE3"/>
                </a:solidFill>
                <a:latin typeface="Calibri" pitchFamily="34" charset="0"/>
                <a:ea typeface="Calibri" pitchFamily="34" charset="-122"/>
                <a:cs typeface="Calibri" pitchFamily="34" charset="-120"/>
              </a:rPr>
              <a:t>THE MATH</a:t>
            </a:r>
            <a:endParaRPr lang="en-US" sz="1200" dirty="0"/>
          </a:p>
        </p:txBody>
      </p:sp>
      <p:sp>
        <p:nvSpPr>
          <p:cNvPr id="7" name="Text 5"/>
          <p:cNvSpPr txBox="1"/>
          <p:nvPr/>
        </p:nvSpPr>
        <p:spPr>
          <a:xfrm>
            <a:off x="868680" y="2560320"/>
            <a:ext cx="4754880" cy="731520"/>
          </a:xfrm>
          <a:prstGeom prst="rect">
            <a:avLst/>
          </a:prstGeom>
          <a:noFill/>
          <a:ln/>
        </p:spPr>
        <p:txBody>
          <a:bodyPr wrap="square" lIns="0" tIns="0" rIns="0" bIns="0" rtlCol="0" anchor="ctr"/>
          <a:lstStyle/>
          <a:p>
            <a:pPr marL="0" indent="0">
              <a:buNone/>
            </a:pPr>
            <a:r>
              <a:rPr lang="en-US" sz="1350" dirty="0">
                <a:solidFill>
                  <a:srgbClr val="8FDEE3"/>
                </a:solidFill>
                <a:latin typeface="Calibri" pitchFamily="34" charset="0"/>
                <a:ea typeface="Calibri" pitchFamily="34" charset="-122"/>
                <a:cs typeface="Calibri" pitchFamily="34" charset="-120"/>
              </a:rPr>
              <a:t>A nominal rate convertible m-thly relates to the effective annual rate by:</a:t>
            </a:r>
            <a:endParaRPr lang="en-US" sz="1350" dirty="0"/>
          </a:p>
        </p:txBody>
      </p:sp>
      <p:sp>
        <p:nvSpPr>
          <p:cNvPr id="8" name="Shape 6"/>
          <p:cNvSpPr/>
          <p:nvPr/>
        </p:nvSpPr>
        <p:spPr>
          <a:xfrm>
            <a:off x="868680" y="3246120"/>
            <a:ext cx="4754880" cy="685800"/>
          </a:xfrm>
          <a:prstGeom prst="roundRect">
            <a:avLst>
              <a:gd name="adj" fmla="val 10667"/>
            </a:avLst>
          </a:prstGeom>
          <a:solidFill>
            <a:srgbClr val="F5EDEA"/>
          </a:solidFill>
          <a:ln/>
        </p:spPr>
        <p:txBody>
          <a:bodyPr/>
          <a:lstStyle/>
          <a:p>
            <a:endParaRPr lang="en-US"/>
          </a:p>
        </p:txBody>
      </p:sp>
      <p:sp>
        <p:nvSpPr>
          <p:cNvPr id="9" name="Text 7"/>
          <p:cNvSpPr txBox="1"/>
          <p:nvPr/>
        </p:nvSpPr>
        <p:spPr>
          <a:xfrm>
            <a:off x="1051560" y="3246120"/>
            <a:ext cx="2743200" cy="685800"/>
          </a:xfrm>
          <a:prstGeom prst="rect">
            <a:avLst/>
          </a:prstGeom>
          <a:noFill/>
          <a:ln/>
        </p:spPr>
        <p:txBody>
          <a:bodyPr wrap="square" lIns="0" tIns="0" rIns="0" bIns="0" rtlCol="0" anchor="ctr"/>
          <a:lstStyle/>
          <a:p>
            <a:pPr marL="0" indent="0" algn="l">
              <a:buNone/>
            </a:pPr>
            <a:r>
              <a:rPr lang="en-US" sz="1800" i="1" dirty="0">
                <a:solidFill>
                  <a:srgbClr val="3B0F10"/>
                </a:solidFill>
                <a:latin typeface="Cambria" pitchFamily="34" charset="0"/>
                <a:ea typeface="Cambria" pitchFamily="34" charset="-122"/>
                <a:cs typeface="Cambria" pitchFamily="34" charset="-120"/>
              </a:rPr>
              <a:t>1 + i  =  (1 + i</a:t>
            </a:r>
            <a:endParaRPr lang="en-US" sz="1800" dirty="0"/>
          </a:p>
        </p:txBody>
      </p:sp>
      <p:sp>
        <p:nvSpPr>
          <p:cNvPr id="10" name="Text 8"/>
          <p:cNvSpPr txBox="1"/>
          <p:nvPr/>
        </p:nvSpPr>
        <p:spPr>
          <a:xfrm>
            <a:off x="2514600" y="3337560"/>
            <a:ext cx="457200" cy="274320"/>
          </a:xfrm>
          <a:prstGeom prst="rect">
            <a:avLst/>
          </a:prstGeom>
          <a:noFill/>
          <a:ln/>
        </p:spPr>
        <p:txBody>
          <a:bodyPr wrap="square" lIns="0" tIns="0" rIns="0" bIns="0" rtlCol="0" anchor="ctr"/>
          <a:lstStyle/>
          <a:p>
            <a:pPr marL="0" indent="0">
              <a:buNone/>
            </a:pPr>
            <a:r>
              <a:rPr lang="en-US" sz="1000" dirty="0">
                <a:solidFill>
                  <a:srgbClr val="3B0F10"/>
                </a:solidFill>
                <a:latin typeface="Calibri" pitchFamily="34" charset="0"/>
                <a:ea typeface="Calibri" pitchFamily="34" charset="-122"/>
                <a:cs typeface="Calibri" pitchFamily="34" charset="-120"/>
              </a:rPr>
              <a:t>(m)</a:t>
            </a:r>
            <a:endParaRPr lang="en-US" sz="1000" dirty="0"/>
          </a:p>
        </p:txBody>
      </p:sp>
      <p:sp>
        <p:nvSpPr>
          <p:cNvPr id="11" name="Text 9"/>
          <p:cNvSpPr txBox="1"/>
          <p:nvPr/>
        </p:nvSpPr>
        <p:spPr>
          <a:xfrm>
            <a:off x="2880360" y="3246120"/>
            <a:ext cx="640080" cy="685800"/>
          </a:xfrm>
          <a:prstGeom prst="rect">
            <a:avLst/>
          </a:prstGeom>
          <a:noFill/>
          <a:ln/>
        </p:spPr>
        <p:txBody>
          <a:bodyPr wrap="square" lIns="0" tIns="0" rIns="0" bIns="0" rtlCol="0" anchor="ctr"/>
          <a:lstStyle/>
          <a:p>
            <a:pPr marL="0" indent="0" algn="l">
              <a:buNone/>
            </a:pPr>
            <a:r>
              <a:rPr lang="en-US" sz="1800" i="1" dirty="0">
                <a:solidFill>
                  <a:srgbClr val="3B0F10"/>
                </a:solidFill>
                <a:latin typeface="Cambria" pitchFamily="34" charset="0"/>
                <a:ea typeface="Cambria" pitchFamily="34" charset="-122"/>
                <a:cs typeface="Cambria" pitchFamily="34" charset="-120"/>
              </a:rPr>
              <a:t>/ m)</a:t>
            </a:r>
            <a:endParaRPr lang="en-US" sz="1800" dirty="0"/>
          </a:p>
        </p:txBody>
      </p:sp>
      <p:sp>
        <p:nvSpPr>
          <p:cNvPr id="12" name="Text 10"/>
          <p:cNvSpPr txBox="1"/>
          <p:nvPr/>
        </p:nvSpPr>
        <p:spPr>
          <a:xfrm>
            <a:off x="3429000" y="3291840"/>
            <a:ext cx="365760" cy="274320"/>
          </a:xfrm>
          <a:prstGeom prst="rect">
            <a:avLst/>
          </a:prstGeom>
          <a:noFill/>
          <a:ln/>
        </p:spPr>
        <p:txBody>
          <a:bodyPr wrap="square" lIns="0" tIns="0" rIns="0" bIns="0" rtlCol="0" anchor="ctr"/>
          <a:lstStyle/>
          <a:p>
            <a:pPr marL="0" indent="0">
              <a:buNone/>
            </a:pPr>
            <a:r>
              <a:rPr lang="en-US" sz="1200" b="1" dirty="0">
                <a:solidFill>
                  <a:srgbClr val="3B0F10"/>
                </a:solidFill>
                <a:latin typeface="Calibri" pitchFamily="34" charset="0"/>
                <a:ea typeface="Calibri" pitchFamily="34" charset="-122"/>
                <a:cs typeface="Calibri" pitchFamily="34" charset="-120"/>
              </a:rPr>
              <a:t>m</a:t>
            </a:r>
            <a:endParaRPr lang="en-US" sz="1200" dirty="0"/>
          </a:p>
        </p:txBody>
      </p:sp>
      <p:sp>
        <p:nvSpPr>
          <p:cNvPr id="13" name="Text 11"/>
          <p:cNvSpPr txBox="1"/>
          <p:nvPr/>
        </p:nvSpPr>
        <p:spPr>
          <a:xfrm>
            <a:off x="868680" y="4114800"/>
            <a:ext cx="4754880" cy="1005840"/>
          </a:xfrm>
          <a:prstGeom prst="rect">
            <a:avLst/>
          </a:prstGeom>
          <a:noFill/>
          <a:ln/>
        </p:spPr>
        <p:txBody>
          <a:bodyPr wrap="square" lIns="0" tIns="0" rIns="0" bIns="0" rtlCol="0" anchor="ctr"/>
          <a:lstStyle/>
          <a:p>
            <a:pPr marL="0" indent="0">
              <a:buNone/>
            </a:pPr>
            <a:r>
              <a:rPr lang="en-US" sz="1300" dirty="0">
                <a:solidFill>
                  <a:srgbClr val="8FDEE3"/>
                </a:solidFill>
                <a:latin typeface="Calibri" pitchFamily="34" charset="0"/>
                <a:ea typeface="Calibri" pitchFamily="34" charset="-122"/>
                <a:cs typeface="Calibri" pitchFamily="34" charset="-120"/>
              </a:rPr>
              <a:t>“6% interest,” on its own, doesn't say which is meant — “convertible monthly” or “quarterly” specifies precisely which conversion applies.</a:t>
            </a:r>
            <a:endParaRPr lang="en-US" sz="1300" dirty="0"/>
          </a:p>
        </p:txBody>
      </p:sp>
      <p:sp>
        <p:nvSpPr>
          <p:cNvPr id="14" name="Text 12"/>
          <p:cNvSpPr txBox="1"/>
          <p:nvPr/>
        </p:nvSpPr>
        <p:spPr>
          <a:xfrm>
            <a:off x="868680" y="5212080"/>
            <a:ext cx="4754880" cy="777240"/>
          </a:xfrm>
          <a:prstGeom prst="rect">
            <a:avLst/>
          </a:prstGeom>
          <a:noFill/>
          <a:ln/>
        </p:spPr>
        <p:txBody>
          <a:bodyPr wrap="square" lIns="0" tIns="0" rIns="0" bIns="0" rtlCol="0" anchor="ctr"/>
          <a:lstStyle/>
          <a:p>
            <a:pPr marL="0" indent="0">
              <a:buNone/>
            </a:pPr>
            <a:r>
              <a:rPr lang="en-US" sz="1200" i="1" dirty="0">
                <a:solidFill>
                  <a:srgbClr val="B98D8B"/>
                </a:solidFill>
                <a:latin typeface="Calibri" pitchFamily="34" charset="0"/>
                <a:ea typeface="Calibri" pitchFamily="34" charset="-122"/>
                <a:cs typeface="Calibri" pitchFamily="34" charset="-120"/>
              </a:rPr>
              <a:t>Validated with RetryAgentRun: a non-positive m or growth factor sends the model back to re-read the request and retry — never a crash.</a:t>
            </a:r>
            <a:endParaRPr lang="en-US" sz="1200" dirty="0"/>
          </a:p>
        </p:txBody>
      </p:sp>
      <p:sp>
        <p:nvSpPr>
          <p:cNvPr id="15" name="Shape 13"/>
          <p:cNvSpPr/>
          <p:nvPr/>
        </p:nvSpPr>
        <p:spPr>
          <a:xfrm>
            <a:off x="6217920" y="1965960"/>
            <a:ext cx="5394960" cy="4114800"/>
          </a:xfrm>
          <a:prstGeom prst="roundRect">
            <a:avLst>
              <a:gd name="adj" fmla="val 2222"/>
            </a:avLst>
          </a:prstGeom>
          <a:solidFill>
            <a:srgbClr val="1A0304"/>
          </a:solidFill>
          <a:ln/>
        </p:spPr>
        <p:txBody>
          <a:bodyPr/>
          <a:lstStyle/>
          <a:p>
            <a:endParaRPr lang="en-US"/>
          </a:p>
        </p:txBody>
      </p:sp>
      <p:sp>
        <p:nvSpPr>
          <p:cNvPr id="16" name="Text 14"/>
          <p:cNvSpPr txBox="1"/>
          <p:nvPr/>
        </p:nvSpPr>
        <p:spPr>
          <a:xfrm>
            <a:off x="6537960" y="2194560"/>
            <a:ext cx="4754880" cy="320040"/>
          </a:xfrm>
          <a:prstGeom prst="rect">
            <a:avLst/>
          </a:prstGeom>
          <a:noFill/>
          <a:ln/>
        </p:spPr>
        <p:txBody>
          <a:bodyPr wrap="square" lIns="0" tIns="0" rIns="0" bIns="0" rtlCol="0" anchor="ctr"/>
          <a:lstStyle/>
          <a:p>
            <a:pPr marL="0" indent="0">
              <a:buNone/>
            </a:pPr>
            <a:r>
              <a:rPr lang="en-US" sz="1200" b="1" kern="0" spc="120" dirty="0">
                <a:solidFill>
                  <a:srgbClr val="8FDEE3"/>
                </a:solidFill>
                <a:latin typeface="Calibri" pitchFamily="34" charset="0"/>
                <a:ea typeface="Calibri" pitchFamily="34" charset="-122"/>
                <a:cs typeface="Calibri" pitchFamily="34" charset="-120"/>
              </a:rPr>
              <a:t>SAMPLE RUN</a:t>
            </a:r>
            <a:endParaRPr lang="en-US" sz="1200" dirty="0"/>
          </a:p>
        </p:txBody>
      </p:sp>
      <p:sp>
        <p:nvSpPr>
          <p:cNvPr id="17" name="Text 15"/>
          <p:cNvSpPr txBox="1"/>
          <p:nvPr/>
        </p:nvSpPr>
        <p:spPr>
          <a:xfrm>
            <a:off x="6537960" y="2606040"/>
            <a:ext cx="4754880" cy="3291840"/>
          </a:xfrm>
          <a:prstGeom prst="rect">
            <a:avLst/>
          </a:prstGeom>
          <a:noFill/>
          <a:ln/>
        </p:spPr>
        <p:txBody>
          <a:bodyPr wrap="square" lIns="0" tIns="0" rIns="0" bIns="0" rtlCol="0" anchor="ctr"/>
          <a:lstStyle/>
          <a:p>
            <a:pPr marL="0" indent="0">
              <a:buNone/>
            </a:pPr>
            <a:r>
              <a:rPr lang="en-US" sz="1350" b="1" dirty="0">
                <a:solidFill>
                  <a:srgbClr val="8FDEE3"/>
                </a:solidFill>
              </a:rPr>
              <a:t>User:  </a:t>
            </a:r>
            <a:r>
              <a:rPr lang="en-US" sz="1350" dirty="0">
                <a:solidFill>
                  <a:srgbClr val="F5EDEA"/>
                </a:solidFill>
              </a:rPr>
              <a:t>“Convert 6% convertible monthly to an effective annual rate.”</a:t>
            </a:r>
            <a:endParaRPr lang="en-US" sz="1350" dirty="0"/>
          </a:p>
          <a:p>
            <a:pPr marL="0" indent="0">
              <a:buNone/>
            </a:pPr>
            <a:r>
              <a:rPr lang="en-US" sz="1350" b="1" dirty="0">
                <a:solidFill>
                  <a:srgbClr val="8FDEE3"/>
                </a:solidFill>
              </a:rPr>
              <a:t>Agent calls:  </a:t>
            </a:r>
            <a:r>
              <a:rPr lang="en-US" sz="1250" dirty="0">
                <a:solidFill>
                  <a:srgbClr val="8FDEE3"/>
                </a:solidFill>
                <a:latin typeface="Courier New" pitchFamily="34" charset="0"/>
                <a:ea typeface="Courier New" pitchFamily="34" charset="-122"/>
                <a:cs typeface="Courier New" pitchFamily="34" charset="-120"/>
              </a:rPr>
              <a:t>convert_nominal_to_effective(0.06, 12)</a:t>
            </a:r>
            <a:endParaRPr lang="en-US" sz="1350" dirty="0"/>
          </a:p>
          <a:p>
            <a:pPr marL="0" indent="0">
              <a:buNone/>
            </a:pPr>
            <a:r>
              <a:rPr lang="en-US" sz="1350" b="1" dirty="0">
                <a:solidFill>
                  <a:srgbClr val="8FDEE3"/>
                </a:solidFill>
              </a:rPr>
              <a:t>Tool returns:  </a:t>
            </a:r>
            <a:r>
              <a:rPr lang="en-US" sz="1400" b="1" dirty="0">
                <a:solidFill>
                  <a:srgbClr val="8FDEE3"/>
                </a:solidFill>
                <a:latin typeface="Courier New" pitchFamily="34" charset="0"/>
                <a:ea typeface="Courier New" pitchFamily="34" charset="-122"/>
                <a:cs typeface="Courier New" pitchFamily="34" charset="-120"/>
              </a:rPr>
              <a:t>0.061678</a:t>
            </a:r>
            <a:endParaRPr lang="en-US" sz="1350" dirty="0"/>
          </a:p>
          <a:p>
            <a:pPr marL="0" indent="0">
              <a:buNone/>
            </a:pPr>
            <a:r>
              <a:rPr lang="en-US" sz="1350" b="1" dirty="0">
                <a:solidFill>
                  <a:srgbClr val="8FDEE3"/>
                </a:solidFill>
              </a:rPr>
              <a:t>Agent:  </a:t>
            </a:r>
            <a:r>
              <a:rPr lang="en-US" sz="1350" dirty="0">
                <a:solidFill>
                  <a:srgbClr val="F5EDEA"/>
                </a:solidFill>
              </a:rPr>
              <a:t>“The equivalent effective annual rate is 6.1678%.”</a:t>
            </a:r>
            <a:endParaRPr lang="en-US" sz="1350" dirty="0"/>
          </a:p>
        </p:txBody>
      </p:sp>
      <p:sp>
        <p:nvSpPr>
          <p:cNvPr id="18" name="Text 16"/>
          <p:cNvSpPr txBox="1"/>
          <p:nvPr/>
        </p:nvSpPr>
        <p:spPr>
          <a:xfrm>
            <a:off x="7589520" y="6510528"/>
            <a:ext cx="4114800" cy="274320"/>
          </a:xfrm>
          <a:prstGeom prst="rect">
            <a:avLst/>
          </a:prstGeom>
          <a:noFill/>
          <a:ln/>
        </p:spPr>
        <p:txBody>
          <a:bodyPr wrap="square" lIns="0" tIns="0" rIns="0" bIns="0" rtlCol="0" anchor="ctr"/>
          <a:lstStyle/>
          <a:p>
            <a:pPr marL="0" indent="0" algn="r">
              <a:buNone/>
            </a:pPr>
            <a:r>
              <a:rPr lang="en-US" sz="1000" dirty="0">
                <a:solidFill>
                  <a:srgbClr val="B98D8B"/>
                </a:solidFill>
                <a:latin typeface="Calibri" pitchFamily="34" charset="0"/>
                <a:ea typeface="Calibri" pitchFamily="34" charset="-122"/>
                <a:cs typeface="Calibri" pitchFamily="34" charset="-120"/>
              </a:rPr>
              <a:t>From Exam Question to Autonomous Agent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D0607"/>
        </a:solidFill>
        <a:effectLst/>
      </p:bgPr>
    </p:bg>
    <p:spTree>
      <p:nvGrpSpPr>
        <p:cNvPr id="1" name=""/>
        <p:cNvGrpSpPr/>
        <p:nvPr/>
      </p:nvGrpSpPr>
      <p:grpSpPr>
        <a:xfrm>
          <a:off x="0" y="0"/>
          <a:ext cx="0" cy="0"/>
          <a:chOff x="0" y="0"/>
          <a:chExt cx="0" cy="0"/>
        </a:xfrm>
      </p:grpSpPr>
      <p:sp>
        <p:nvSpPr>
          <p:cNvPr id="2" name="Text 0"/>
          <p:cNvSpPr txBox="1"/>
          <p:nvPr/>
        </p:nvSpPr>
        <p:spPr>
          <a:xfrm>
            <a:off x="548640" y="548640"/>
            <a:ext cx="9144000" cy="365760"/>
          </a:xfrm>
          <a:prstGeom prst="rect">
            <a:avLst/>
          </a:prstGeom>
          <a:noFill/>
          <a:ln/>
        </p:spPr>
        <p:txBody>
          <a:bodyPr wrap="square" lIns="0" tIns="0" rIns="0" bIns="0" rtlCol="0" anchor="ctr"/>
          <a:lstStyle/>
          <a:p>
            <a:pPr marL="0" indent="0">
              <a:buNone/>
            </a:pPr>
            <a:r>
              <a:rPr lang="en-US" sz="1300" b="1" kern="0" spc="150" dirty="0">
                <a:solidFill>
                  <a:srgbClr val="8FDEE3"/>
                </a:solidFill>
                <a:latin typeface="Calibri" pitchFamily="34" charset="0"/>
                <a:ea typeface="Calibri" pitchFamily="34" charset="-122"/>
                <a:cs typeface="Calibri" pitchFamily="34" charset="-120"/>
              </a:rPr>
              <a:t>BEFORE THE GUIDED BUILD</a:t>
            </a:r>
            <a:endParaRPr lang="en-US" sz="1300" dirty="0"/>
          </a:p>
        </p:txBody>
      </p:sp>
      <p:sp>
        <p:nvSpPr>
          <p:cNvPr id="3" name="Text 1"/>
          <p:cNvSpPr txBox="1"/>
          <p:nvPr/>
        </p:nvSpPr>
        <p:spPr>
          <a:xfrm>
            <a:off x="548640" y="914400"/>
            <a:ext cx="10972800" cy="822960"/>
          </a:xfrm>
          <a:prstGeom prst="rect">
            <a:avLst/>
          </a:prstGeom>
          <a:noFill/>
          <a:ln/>
        </p:spPr>
        <p:txBody>
          <a:bodyPr wrap="square" lIns="0" tIns="0" rIns="0" bIns="0" rtlCol="0" anchor="ctr"/>
          <a:lstStyle/>
          <a:p>
            <a:pPr marL="0" indent="0">
              <a:buNone/>
            </a:pPr>
            <a:r>
              <a:rPr lang="en-US" sz="3400" b="1" dirty="0">
                <a:solidFill>
                  <a:srgbClr val="F5EDEA"/>
                </a:solidFill>
                <a:latin typeface="Cambria" pitchFamily="34" charset="0"/>
                <a:ea typeface="Cambria" pitchFamily="34" charset="-122"/>
                <a:cs typeface="Cambria" pitchFamily="34" charset="-120"/>
              </a:rPr>
              <a:t>A shared vocabulary</a:t>
            </a:r>
            <a:endParaRPr lang="en-US" sz="3400" dirty="0"/>
          </a:p>
        </p:txBody>
      </p:sp>
      <p:sp>
        <p:nvSpPr>
          <p:cNvPr id="4" name="Text 2"/>
          <p:cNvSpPr txBox="1"/>
          <p:nvPr/>
        </p:nvSpPr>
        <p:spPr>
          <a:xfrm>
            <a:off x="548640" y="1691640"/>
            <a:ext cx="10972800" cy="365760"/>
          </a:xfrm>
          <a:prstGeom prst="rect">
            <a:avLst/>
          </a:prstGeom>
          <a:noFill/>
          <a:ln/>
        </p:spPr>
        <p:txBody>
          <a:bodyPr wrap="square" lIns="0" tIns="0" rIns="0" bIns="0" rtlCol="0" anchor="ctr"/>
          <a:lstStyle/>
          <a:p>
            <a:pPr marL="0" indent="0">
              <a:buNone/>
            </a:pPr>
            <a:r>
              <a:rPr lang="en-US" sz="1500" i="1" dirty="0">
                <a:solidFill>
                  <a:srgbClr val="8FDEE3"/>
                </a:solidFill>
                <a:latin typeface="Calibri" pitchFamily="34" charset="0"/>
                <a:ea typeface="Calibri" pitchFamily="34" charset="-122"/>
                <a:cs typeface="Calibri" pitchFamily="34" charset="-120"/>
              </a:rPr>
              <a:t>Seven words the rest of today's session depends on:</a:t>
            </a:r>
            <a:endParaRPr lang="en-US" sz="1500" dirty="0"/>
          </a:p>
        </p:txBody>
      </p:sp>
      <p:sp>
        <p:nvSpPr>
          <p:cNvPr id="5" name="Shape 3"/>
          <p:cNvSpPr/>
          <p:nvPr/>
        </p:nvSpPr>
        <p:spPr>
          <a:xfrm>
            <a:off x="548640" y="2331720"/>
            <a:ext cx="2606040" cy="1051560"/>
          </a:xfrm>
          <a:prstGeom prst="roundRect">
            <a:avLst>
              <a:gd name="adj" fmla="val 8696"/>
            </a:avLst>
          </a:prstGeom>
          <a:solidFill>
            <a:srgbClr val="471113"/>
          </a:solidFill>
          <a:ln/>
        </p:spPr>
        <p:txBody>
          <a:bodyPr/>
          <a:lstStyle/>
          <a:p>
            <a:endParaRPr lang="en-US"/>
          </a:p>
        </p:txBody>
      </p:sp>
      <p:sp>
        <p:nvSpPr>
          <p:cNvPr id="6" name="Text 4"/>
          <p:cNvSpPr txBox="1"/>
          <p:nvPr/>
        </p:nvSpPr>
        <p:spPr>
          <a:xfrm>
            <a:off x="548640" y="2331720"/>
            <a:ext cx="2606040" cy="1051560"/>
          </a:xfrm>
          <a:prstGeom prst="rect">
            <a:avLst/>
          </a:prstGeom>
          <a:noFill/>
          <a:ln/>
        </p:spPr>
        <p:txBody>
          <a:bodyPr wrap="square" lIns="0" tIns="0" rIns="0" bIns="0" rtlCol="0" anchor="ctr"/>
          <a:lstStyle/>
          <a:p>
            <a:pPr marL="0" indent="0" algn="ctr">
              <a:buNone/>
            </a:pPr>
            <a:r>
              <a:rPr lang="en-US" sz="1600" b="1" dirty="0">
                <a:solidFill>
                  <a:srgbClr val="F5EDEA"/>
                </a:solidFill>
                <a:latin typeface="Calibri" pitchFamily="34" charset="0"/>
                <a:ea typeface="Calibri" pitchFamily="34" charset="-122"/>
                <a:cs typeface="Calibri" pitchFamily="34" charset="-120"/>
              </a:rPr>
              <a:t>Reason</a:t>
            </a:r>
            <a:endParaRPr lang="en-US" sz="1600" dirty="0"/>
          </a:p>
        </p:txBody>
      </p:sp>
      <p:sp>
        <p:nvSpPr>
          <p:cNvPr id="7" name="Shape 5"/>
          <p:cNvSpPr/>
          <p:nvPr/>
        </p:nvSpPr>
        <p:spPr>
          <a:xfrm>
            <a:off x="3337560" y="2331720"/>
            <a:ext cx="2606040" cy="1051560"/>
          </a:xfrm>
          <a:prstGeom prst="roundRect">
            <a:avLst>
              <a:gd name="adj" fmla="val 8696"/>
            </a:avLst>
          </a:prstGeom>
          <a:solidFill>
            <a:srgbClr val="471113"/>
          </a:solidFill>
          <a:ln/>
        </p:spPr>
        <p:txBody>
          <a:bodyPr/>
          <a:lstStyle/>
          <a:p>
            <a:endParaRPr lang="en-US"/>
          </a:p>
        </p:txBody>
      </p:sp>
      <p:sp>
        <p:nvSpPr>
          <p:cNvPr id="8" name="Text 6"/>
          <p:cNvSpPr txBox="1"/>
          <p:nvPr/>
        </p:nvSpPr>
        <p:spPr>
          <a:xfrm>
            <a:off x="3337560" y="2331720"/>
            <a:ext cx="2606040" cy="1051560"/>
          </a:xfrm>
          <a:prstGeom prst="rect">
            <a:avLst/>
          </a:prstGeom>
          <a:noFill/>
          <a:ln/>
        </p:spPr>
        <p:txBody>
          <a:bodyPr wrap="square" lIns="0" tIns="0" rIns="0" bIns="0" rtlCol="0" anchor="ctr"/>
          <a:lstStyle/>
          <a:p>
            <a:pPr marL="0" indent="0" algn="ctr">
              <a:buNone/>
            </a:pPr>
            <a:r>
              <a:rPr lang="en-US" sz="1600" b="1" dirty="0">
                <a:solidFill>
                  <a:srgbClr val="F5EDEA"/>
                </a:solidFill>
                <a:latin typeface="Calibri" pitchFamily="34" charset="0"/>
                <a:ea typeface="Calibri" pitchFamily="34" charset="-122"/>
                <a:cs typeface="Calibri" pitchFamily="34" charset="-120"/>
              </a:rPr>
              <a:t>Act</a:t>
            </a:r>
            <a:endParaRPr lang="en-US" sz="1600" dirty="0"/>
          </a:p>
        </p:txBody>
      </p:sp>
      <p:sp>
        <p:nvSpPr>
          <p:cNvPr id="9" name="Shape 7"/>
          <p:cNvSpPr/>
          <p:nvPr/>
        </p:nvSpPr>
        <p:spPr>
          <a:xfrm>
            <a:off x="6126480" y="2331720"/>
            <a:ext cx="2606040" cy="1051560"/>
          </a:xfrm>
          <a:prstGeom prst="roundRect">
            <a:avLst>
              <a:gd name="adj" fmla="val 8696"/>
            </a:avLst>
          </a:prstGeom>
          <a:solidFill>
            <a:srgbClr val="471113"/>
          </a:solidFill>
          <a:ln/>
        </p:spPr>
        <p:txBody>
          <a:bodyPr/>
          <a:lstStyle/>
          <a:p>
            <a:endParaRPr lang="en-US"/>
          </a:p>
        </p:txBody>
      </p:sp>
      <p:sp>
        <p:nvSpPr>
          <p:cNvPr id="10" name="Text 8"/>
          <p:cNvSpPr txBox="1"/>
          <p:nvPr/>
        </p:nvSpPr>
        <p:spPr>
          <a:xfrm>
            <a:off x="6126480" y="2331720"/>
            <a:ext cx="2606040" cy="1051560"/>
          </a:xfrm>
          <a:prstGeom prst="rect">
            <a:avLst/>
          </a:prstGeom>
          <a:noFill/>
          <a:ln/>
        </p:spPr>
        <p:txBody>
          <a:bodyPr wrap="square" lIns="0" tIns="0" rIns="0" bIns="0" rtlCol="0" anchor="ctr"/>
          <a:lstStyle/>
          <a:p>
            <a:pPr marL="0" indent="0" algn="ctr">
              <a:buNone/>
            </a:pPr>
            <a:r>
              <a:rPr lang="en-US" sz="1600" b="1" dirty="0">
                <a:solidFill>
                  <a:srgbClr val="F5EDEA"/>
                </a:solidFill>
                <a:latin typeface="Calibri" pitchFamily="34" charset="0"/>
                <a:ea typeface="Calibri" pitchFamily="34" charset="-122"/>
                <a:cs typeface="Calibri" pitchFamily="34" charset="-120"/>
              </a:rPr>
              <a:t>Observe</a:t>
            </a:r>
            <a:endParaRPr lang="en-US" sz="1600" dirty="0"/>
          </a:p>
        </p:txBody>
      </p:sp>
      <p:sp>
        <p:nvSpPr>
          <p:cNvPr id="11" name="Shape 9"/>
          <p:cNvSpPr/>
          <p:nvPr/>
        </p:nvSpPr>
        <p:spPr>
          <a:xfrm>
            <a:off x="8915400" y="2331720"/>
            <a:ext cx="2606040" cy="1051560"/>
          </a:xfrm>
          <a:prstGeom prst="roundRect">
            <a:avLst>
              <a:gd name="adj" fmla="val 8696"/>
            </a:avLst>
          </a:prstGeom>
          <a:solidFill>
            <a:srgbClr val="471113"/>
          </a:solidFill>
          <a:ln/>
        </p:spPr>
        <p:txBody>
          <a:bodyPr/>
          <a:lstStyle/>
          <a:p>
            <a:endParaRPr lang="en-US"/>
          </a:p>
        </p:txBody>
      </p:sp>
      <p:sp>
        <p:nvSpPr>
          <p:cNvPr id="12" name="Text 10"/>
          <p:cNvSpPr txBox="1"/>
          <p:nvPr/>
        </p:nvSpPr>
        <p:spPr>
          <a:xfrm>
            <a:off x="8915400" y="2331720"/>
            <a:ext cx="2606040" cy="1051560"/>
          </a:xfrm>
          <a:prstGeom prst="rect">
            <a:avLst/>
          </a:prstGeom>
          <a:noFill/>
          <a:ln/>
        </p:spPr>
        <p:txBody>
          <a:bodyPr wrap="square" lIns="0" tIns="0" rIns="0" bIns="0" rtlCol="0" anchor="ctr"/>
          <a:lstStyle/>
          <a:p>
            <a:pPr marL="0" indent="0" algn="ctr">
              <a:buNone/>
            </a:pPr>
            <a:r>
              <a:rPr lang="en-US" sz="1600" b="1" dirty="0">
                <a:solidFill>
                  <a:srgbClr val="F5EDEA"/>
                </a:solidFill>
                <a:latin typeface="Calibri" pitchFamily="34" charset="0"/>
                <a:ea typeface="Calibri" pitchFamily="34" charset="-122"/>
                <a:cs typeface="Calibri" pitchFamily="34" charset="-120"/>
              </a:rPr>
              <a:t>Instruction</a:t>
            </a:r>
            <a:endParaRPr lang="en-US" sz="1600" dirty="0"/>
          </a:p>
        </p:txBody>
      </p:sp>
      <p:sp>
        <p:nvSpPr>
          <p:cNvPr id="13" name="Shape 11"/>
          <p:cNvSpPr/>
          <p:nvPr/>
        </p:nvSpPr>
        <p:spPr>
          <a:xfrm>
            <a:off x="548640" y="3611880"/>
            <a:ext cx="2606040" cy="1051560"/>
          </a:xfrm>
          <a:prstGeom prst="roundRect">
            <a:avLst>
              <a:gd name="adj" fmla="val 8696"/>
            </a:avLst>
          </a:prstGeom>
          <a:solidFill>
            <a:srgbClr val="471113"/>
          </a:solidFill>
          <a:ln/>
        </p:spPr>
        <p:txBody>
          <a:bodyPr/>
          <a:lstStyle/>
          <a:p>
            <a:endParaRPr lang="en-US"/>
          </a:p>
        </p:txBody>
      </p:sp>
      <p:sp>
        <p:nvSpPr>
          <p:cNvPr id="14" name="Text 12"/>
          <p:cNvSpPr txBox="1"/>
          <p:nvPr/>
        </p:nvSpPr>
        <p:spPr>
          <a:xfrm>
            <a:off x="548640" y="3611880"/>
            <a:ext cx="2606040" cy="1051560"/>
          </a:xfrm>
          <a:prstGeom prst="rect">
            <a:avLst/>
          </a:prstGeom>
          <a:noFill/>
          <a:ln/>
        </p:spPr>
        <p:txBody>
          <a:bodyPr wrap="square" lIns="0" tIns="0" rIns="0" bIns="0" rtlCol="0" anchor="ctr"/>
          <a:lstStyle/>
          <a:p>
            <a:pPr marL="0" indent="0" algn="ctr">
              <a:buNone/>
            </a:pPr>
            <a:r>
              <a:rPr lang="en-US" sz="1600" b="1" dirty="0">
                <a:solidFill>
                  <a:srgbClr val="F5EDEA"/>
                </a:solidFill>
                <a:latin typeface="Calibri" pitchFamily="34" charset="0"/>
                <a:ea typeface="Calibri" pitchFamily="34" charset="-122"/>
                <a:cs typeface="Calibri" pitchFamily="34" charset="-120"/>
              </a:rPr>
              <a:t>Guardrail</a:t>
            </a:r>
            <a:endParaRPr lang="en-US" sz="1600" dirty="0"/>
          </a:p>
        </p:txBody>
      </p:sp>
      <p:sp>
        <p:nvSpPr>
          <p:cNvPr id="15" name="Shape 13"/>
          <p:cNvSpPr/>
          <p:nvPr/>
        </p:nvSpPr>
        <p:spPr>
          <a:xfrm>
            <a:off x="3337560" y="3611880"/>
            <a:ext cx="2606040" cy="1051560"/>
          </a:xfrm>
          <a:prstGeom prst="roundRect">
            <a:avLst>
              <a:gd name="adj" fmla="val 8696"/>
            </a:avLst>
          </a:prstGeom>
          <a:solidFill>
            <a:srgbClr val="471113"/>
          </a:solidFill>
          <a:ln/>
        </p:spPr>
        <p:txBody>
          <a:bodyPr/>
          <a:lstStyle/>
          <a:p>
            <a:endParaRPr lang="en-US"/>
          </a:p>
        </p:txBody>
      </p:sp>
      <p:sp>
        <p:nvSpPr>
          <p:cNvPr id="16" name="Text 14"/>
          <p:cNvSpPr txBox="1"/>
          <p:nvPr/>
        </p:nvSpPr>
        <p:spPr>
          <a:xfrm>
            <a:off x="3337560" y="3611880"/>
            <a:ext cx="2606040" cy="1051560"/>
          </a:xfrm>
          <a:prstGeom prst="rect">
            <a:avLst/>
          </a:prstGeom>
          <a:noFill/>
          <a:ln/>
        </p:spPr>
        <p:txBody>
          <a:bodyPr wrap="square" lIns="0" tIns="0" rIns="0" bIns="0" rtlCol="0" anchor="ctr"/>
          <a:lstStyle/>
          <a:p>
            <a:pPr marL="0" indent="0" algn="ctr">
              <a:buNone/>
            </a:pPr>
            <a:r>
              <a:rPr lang="en-US" sz="1600" b="1" dirty="0">
                <a:solidFill>
                  <a:srgbClr val="F5EDEA"/>
                </a:solidFill>
                <a:latin typeface="Calibri" pitchFamily="34" charset="0"/>
                <a:ea typeface="Calibri" pitchFamily="34" charset="-122"/>
                <a:cs typeface="Calibri" pitchFamily="34" charset="-120"/>
              </a:rPr>
              <a:t>Specialist</a:t>
            </a:r>
            <a:endParaRPr lang="en-US" sz="1600" dirty="0"/>
          </a:p>
        </p:txBody>
      </p:sp>
      <p:sp>
        <p:nvSpPr>
          <p:cNvPr id="17" name="Shape 15"/>
          <p:cNvSpPr/>
          <p:nvPr/>
        </p:nvSpPr>
        <p:spPr>
          <a:xfrm>
            <a:off x="6126480" y="3611880"/>
            <a:ext cx="2606040" cy="1051560"/>
          </a:xfrm>
          <a:prstGeom prst="roundRect">
            <a:avLst>
              <a:gd name="adj" fmla="val 8696"/>
            </a:avLst>
          </a:prstGeom>
          <a:solidFill>
            <a:srgbClr val="471113"/>
          </a:solidFill>
          <a:ln/>
        </p:spPr>
        <p:txBody>
          <a:bodyPr/>
          <a:lstStyle/>
          <a:p>
            <a:endParaRPr lang="en-US"/>
          </a:p>
        </p:txBody>
      </p:sp>
      <p:sp>
        <p:nvSpPr>
          <p:cNvPr id="18" name="Text 16"/>
          <p:cNvSpPr txBox="1"/>
          <p:nvPr/>
        </p:nvSpPr>
        <p:spPr>
          <a:xfrm>
            <a:off x="6126480" y="3611880"/>
            <a:ext cx="2606040" cy="1051560"/>
          </a:xfrm>
          <a:prstGeom prst="rect">
            <a:avLst/>
          </a:prstGeom>
          <a:noFill/>
          <a:ln/>
        </p:spPr>
        <p:txBody>
          <a:bodyPr wrap="square" lIns="0" tIns="0" rIns="0" bIns="0" rtlCol="0" anchor="ctr"/>
          <a:lstStyle/>
          <a:p>
            <a:pPr marL="0" indent="0" algn="ctr">
              <a:buNone/>
            </a:pPr>
            <a:r>
              <a:rPr lang="en-US" sz="1600" b="1" dirty="0">
                <a:solidFill>
                  <a:srgbClr val="F5EDEA"/>
                </a:solidFill>
                <a:latin typeface="Calibri" pitchFamily="34" charset="0"/>
                <a:ea typeface="Calibri" pitchFamily="34" charset="-122"/>
                <a:cs typeface="Calibri" pitchFamily="34" charset="-120"/>
              </a:rPr>
              <a:t>Team leader</a:t>
            </a:r>
            <a:endParaRPr lang="en-US" sz="1600" dirty="0"/>
          </a:p>
        </p:txBody>
      </p:sp>
      <p:sp>
        <p:nvSpPr>
          <p:cNvPr id="19" name="Text 17"/>
          <p:cNvSpPr txBox="1"/>
          <p:nvPr/>
        </p:nvSpPr>
        <p:spPr>
          <a:xfrm>
            <a:off x="548640" y="6080760"/>
            <a:ext cx="10972800" cy="365760"/>
          </a:xfrm>
          <a:prstGeom prst="rect">
            <a:avLst/>
          </a:prstGeom>
          <a:noFill/>
          <a:ln/>
        </p:spPr>
        <p:txBody>
          <a:bodyPr wrap="square" lIns="0" tIns="0" rIns="0" bIns="0" rtlCol="0" anchor="ctr"/>
          <a:lstStyle/>
          <a:p>
            <a:pPr marL="0" indent="0">
              <a:buNone/>
            </a:pPr>
            <a:r>
              <a:rPr lang="en-US" sz="1400" i="1" dirty="0">
                <a:solidFill>
                  <a:srgbClr val="8FDEE3"/>
                </a:solidFill>
                <a:latin typeface="Calibri" pitchFamily="34" charset="0"/>
                <a:ea typeface="Calibri" pitchFamily="34" charset="-122"/>
                <a:cs typeface="Calibri" pitchFamily="34" charset="-120"/>
              </a:rPr>
              <a:t>Next: students open Notebook 1 and trace this loop themselves.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838</Words>
  <Application>Microsoft Office PowerPoint</Application>
  <PresentationFormat>Widescreen</PresentationFormat>
  <Paragraphs>102</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Kunapuli, Kasyap</cp:lastModifiedBy>
  <cp:revision>1</cp:revision>
  <dcterms:created xsi:type="dcterms:W3CDTF">2026-09-13T11:40:24Z</dcterms:created>
  <dcterms:modified xsi:type="dcterms:W3CDTF">2026-09-13T11:44:38Z</dcterms:modified>
</cp:coreProperties>
</file>